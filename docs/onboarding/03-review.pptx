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2E5077"/>
          </a:solidFill>
          <a:ln/>
        </p:spPr>
      </p:sp>
      <p:sp>
        <p:nvSpPr>
          <p:cNvPr id="3" name="Text 1"/>
          <p:cNvSpPr/>
          <p:nvPr/>
        </p:nvSpPr>
        <p:spPr>
          <a:xfrm>
            <a:off x="1005840" y="1417320"/>
            <a:ext cx="9144000" cy="365760"/>
          </a:xfrm>
          <a:prstGeom prst="rect">
            <a:avLst/>
          </a:prstGeom>
          <a:noFill/>
          <a:ln/>
        </p:spPr>
        <p:txBody>
          <a:bodyPr wrap="square" lIns="0" tIns="0" rIns="0" bIns="0" rtlCol="0" anchor="ctr"/>
          <a:lstStyle/>
          <a:p>
            <a:pPr indent="0" marL="0">
              <a:buNone/>
            </a:pPr>
            <a:r>
              <a:rPr lang="en-US" sz="1400" b="1" spc="300" kern="0" dirty="0">
                <a:solidFill>
                  <a:srgbClr val="2E5077"/>
                </a:solidFill>
                <a:latin typeface="Arial" pitchFamily="34" charset="0"/>
                <a:ea typeface="Arial" pitchFamily="34" charset="-122"/>
                <a:cs typeface="Arial" pitchFamily="34" charset="-120"/>
              </a:rPr>
              <a:t>TRADE-IMPORTS-ANIMALS ONBOARDING</a:t>
            </a:r>
            <a:endParaRPr lang="en-US" sz="1400" dirty="0"/>
          </a:p>
        </p:txBody>
      </p:sp>
      <p:sp>
        <p:nvSpPr>
          <p:cNvPr id="4" name="Text 2"/>
          <p:cNvSpPr/>
          <p:nvPr/>
        </p:nvSpPr>
        <p:spPr>
          <a:xfrm>
            <a:off x="960120" y="1874520"/>
            <a:ext cx="10058400" cy="640080"/>
          </a:xfrm>
          <a:prstGeom prst="rect">
            <a:avLst/>
          </a:prstGeom>
          <a:noFill/>
          <a:ln/>
        </p:spPr>
        <p:txBody>
          <a:bodyPr wrap="square" lIns="0" tIns="0" rIns="0" bIns="0" rtlCol="0" anchor="ctr"/>
          <a:lstStyle/>
          <a:p>
            <a:pPr indent="0" marL="0">
              <a:buNone/>
            </a:pPr>
            <a:r>
              <a:rPr lang="en-US" sz="2400" b="1" dirty="0">
                <a:solidFill>
                  <a:srgbClr val="64748B"/>
                </a:solidFill>
                <a:latin typeface="Arial" pitchFamily="34" charset="0"/>
                <a:ea typeface="Arial" pitchFamily="34" charset="-122"/>
                <a:cs typeface="Arial" pitchFamily="34" charset="-120"/>
              </a:rPr>
              <a:t>Session 3</a:t>
            </a:r>
            <a:endParaRPr lang="en-US" sz="2400" dirty="0"/>
          </a:p>
        </p:txBody>
      </p:sp>
      <p:sp>
        <p:nvSpPr>
          <p:cNvPr id="5" name="Text 3"/>
          <p:cNvSpPr/>
          <p:nvPr/>
        </p:nvSpPr>
        <p:spPr>
          <a:xfrm>
            <a:off x="914400" y="2468880"/>
            <a:ext cx="10607040" cy="1097280"/>
          </a:xfrm>
          <a:prstGeom prst="rect">
            <a:avLst/>
          </a:prstGeom>
          <a:noFill/>
          <a:ln/>
        </p:spPr>
        <p:txBody>
          <a:bodyPr wrap="square" lIns="0" tIns="0" rIns="0" bIns="0" rtlCol="0" anchor="ctr"/>
          <a:lstStyle/>
          <a:p>
            <a:pPr indent="0" marL="0">
              <a:buNone/>
            </a:pPr>
            <a:r>
              <a:rPr lang="en-US" sz="5200" b="1" dirty="0">
                <a:solidFill>
                  <a:srgbClr val="22405F"/>
                </a:solidFill>
                <a:latin typeface="Courier New" pitchFamily="34" charset="0"/>
                <a:ea typeface="Courier New" pitchFamily="34" charset="-122"/>
                <a:cs typeface="Courier New" pitchFamily="34" charset="-120"/>
              </a:rPr>
              <a:t>review</a:t>
            </a:r>
            <a:endParaRPr lang="en-US" sz="5200" dirty="0"/>
          </a:p>
        </p:txBody>
      </p:sp>
      <p:sp>
        <p:nvSpPr>
          <p:cNvPr id="6" name="Text 4"/>
          <p:cNvSpPr/>
          <p:nvPr/>
        </p:nvSpPr>
        <p:spPr>
          <a:xfrm>
            <a:off x="960120" y="4114800"/>
            <a:ext cx="9875520" cy="1097280"/>
          </a:xfrm>
          <a:prstGeom prst="rect">
            <a:avLst/>
          </a:prstGeom>
          <a:noFill/>
          <a:ln/>
        </p:spPr>
        <p:txBody>
          <a:bodyPr wrap="square" lIns="0" tIns="0" rIns="0" bIns="0" rtlCol="0" anchor="ctr"/>
          <a:lstStyle/>
          <a:p>
            <a:pPr indent="0" marL="0">
              <a:buNone/>
            </a:pPr>
            <a:r>
              <a:rPr lang="en-US" sz="1800" i="1" dirty="0">
                <a:solidFill>
                  <a:srgbClr val="0F172A"/>
                </a:solidFill>
                <a:latin typeface="Arial" pitchFamily="34" charset="0"/>
                <a:ea typeface="Arial" pitchFamily="34" charset="-122"/>
                <a:cs typeface="Arial" pitchFamily="34" charset="-120"/>
              </a:rPr>
              <a:t>Review a ticket's PRs across every repo and language, and triage the findings to merge-ready.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IT'S FOR</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Every PR, every repo, triaged</a:t>
            </a:r>
            <a:endParaRPr lang="en-US" sz="2900" dirty="0"/>
          </a:p>
        </p:txBody>
      </p:sp>
      <p:sp>
        <p:nvSpPr>
          <p:cNvPr id="5" name="Text 3"/>
          <p:cNvSpPr/>
          <p:nvPr/>
        </p:nvSpPr>
        <p:spPr>
          <a:xfrm>
            <a:off x="640080" y="1554480"/>
            <a:ext cx="10789920" cy="2377440"/>
          </a:xfrm>
          <a:prstGeom prst="rect">
            <a:avLst/>
          </a:prstGeom>
          <a:noFill/>
          <a:ln/>
        </p:spPr>
        <p:txBody>
          <a:bodyPr wrap="square" lIns="0" tIns="0" rIns="0" bIns="0" rtlCol="0" anchor="t"/>
          <a:lstStyle/>
          <a:p>
            <a:pPr indent="0" marL="0">
              <a:spcAft>
                <a:spcPts val="1200"/>
              </a:spcAft>
              <a:buNone/>
            </a:pPr>
            <a:r>
              <a:rPr lang="en-US" sz="1550" dirty="0">
                <a:solidFill>
                  <a:srgbClr val="0F172A"/>
                </a:solidFill>
                <a:latin typeface="Arial" pitchFamily="34" charset="0"/>
                <a:ea typeface="Arial" pitchFamily="34" charset="-122"/>
                <a:cs typeface="Arial" pitchFamily="34" charset="-120"/>
              </a:rPr>
              <a:t>A single ticket can land as several PRs — a Java backend change, a Node frontend tweak, an update to the tests repo — and a good review has to hold all of them at once: correctness, security, and whether the tests actually cover the change. Doing that by hand, across repos and two languages, is slow and uneven.</a:t>
            </a:r>
            <a:endParaRPr lang="en-US" sz="1550" dirty="0"/>
          </a:p>
          <a:p>
            <a:pPr indent="0" marL="0">
              <a:spcAft>
                <a:spcPts val="1200"/>
              </a:spcAft>
              <a:buNone/>
            </a:pPr>
            <a:r>
              <a:rPr lang="en-US" sz="1550" dirty="0">
                <a:solidFill>
                  <a:srgbClr val="0F172A"/>
                </a:solidFill>
                <a:latin typeface="Arial" pitchFamily="34" charset="0"/>
                <a:ea typeface="Arial" pitchFamily="34" charset="-122"/>
                <a:cs typeface="Arial" pitchFamily="34" charset="-120"/>
              </a:rPr>
              <a:t>review reads every changed file in parallel, checks the repos stay consistent with each other, and records each finding so nothing slips between "looks fine" and merge. When more commits land it re-reviews only what changed and carries your earlier decisions forward.</a:t>
            </a:r>
            <a:endParaRPr lang="en-US" sz="1550" dirty="0"/>
          </a:p>
        </p:txBody>
      </p:sp>
      <p:sp>
        <p:nvSpPr>
          <p:cNvPr id="6" name="Text 4"/>
          <p:cNvSpPr/>
          <p:nvPr/>
        </p:nvSpPr>
        <p:spPr>
          <a:xfrm>
            <a:off x="640080" y="411480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WHAT YOU GET</a:t>
            </a:r>
            <a:endParaRPr lang="en-US" sz="1200" dirty="0"/>
          </a:p>
        </p:txBody>
      </p:sp>
      <p:sp>
        <p:nvSpPr>
          <p:cNvPr id="7" name="Shape 5"/>
          <p:cNvSpPr/>
          <p:nvPr/>
        </p:nvSpPr>
        <p:spPr>
          <a:xfrm>
            <a:off x="640080" y="4480560"/>
            <a:ext cx="3459480" cy="1645920"/>
          </a:xfrm>
          <a:prstGeom prst="rect">
            <a:avLst/>
          </a:prstGeom>
          <a:solidFill>
            <a:srgbClr val="F1F5F9"/>
          </a:solidFill>
          <a:ln/>
        </p:spPr>
      </p:sp>
      <p:sp>
        <p:nvSpPr>
          <p:cNvPr id="8" name="Shape 6"/>
          <p:cNvSpPr/>
          <p:nvPr/>
        </p:nvSpPr>
        <p:spPr>
          <a:xfrm>
            <a:off x="640080" y="4480560"/>
            <a:ext cx="3459480" cy="82296"/>
          </a:xfrm>
          <a:prstGeom prst="rect">
            <a:avLst/>
          </a:prstGeom>
          <a:solidFill>
            <a:srgbClr val="2E5077"/>
          </a:solidFill>
          <a:ln/>
        </p:spPr>
      </p:sp>
      <p:sp>
        <p:nvSpPr>
          <p:cNvPr id="9" name="Text 7"/>
          <p:cNvSpPr/>
          <p:nvPr/>
        </p:nvSpPr>
        <p:spPr>
          <a:xfrm>
            <a:off x="8686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Nothing unread</a:t>
            </a:r>
            <a:endParaRPr lang="en-US" sz="1450" dirty="0"/>
          </a:p>
        </p:txBody>
      </p:sp>
      <p:sp>
        <p:nvSpPr>
          <p:cNvPr id="10" name="Text 8"/>
          <p:cNvSpPr/>
          <p:nvPr/>
        </p:nvSpPr>
        <p:spPr>
          <a:xfrm>
            <a:off x="8686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every changed file reviewed, behind a hard 100% coverage gate</a:t>
            </a:r>
            <a:endParaRPr lang="en-US" sz="1150" dirty="0"/>
          </a:p>
        </p:txBody>
      </p:sp>
      <p:sp>
        <p:nvSpPr>
          <p:cNvPr id="11" name="Shape 9"/>
          <p:cNvSpPr/>
          <p:nvPr/>
        </p:nvSpPr>
        <p:spPr>
          <a:xfrm>
            <a:off x="4373880" y="4480560"/>
            <a:ext cx="3459480" cy="1645920"/>
          </a:xfrm>
          <a:prstGeom prst="rect">
            <a:avLst/>
          </a:prstGeom>
          <a:solidFill>
            <a:srgbClr val="F1F5F9"/>
          </a:solidFill>
          <a:ln/>
        </p:spPr>
      </p:sp>
      <p:sp>
        <p:nvSpPr>
          <p:cNvPr id="12" name="Shape 10"/>
          <p:cNvSpPr/>
          <p:nvPr/>
        </p:nvSpPr>
        <p:spPr>
          <a:xfrm>
            <a:off x="4373880" y="4480560"/>
            <a:ext cx="3459480" cy="82296"/>
          </a:xfrm>
          <a:prstGeom prst="rect">
            <a:avLst/>
          </a:prstGeom>
          <a:solidFill>
            <a:srgbClr val="2E5077"/>
          </a:solidFill>
          <a:ln/>
        </p:spPr>
      </p:sp>
      <p:sp>
        <p:nvSpPr>
          <p:cNvPr id="13" name="Text 11"/>
          <p:cNvSpPr/>
          <p:nvPr/>
        </p:nvSpPr>
        <p:spPr>
          <a:xfrm>
            <a:off x="46024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One verdict, all repos</a:t>
            </a:r>
            <a:endParaRPr lang="en-US" sz="1450" dirty="0"/>
          </a:p>
        </p:txBody>
      </p:sp>
      <p:sp>
        <p:nvSpPr>
          <p:cNvPr id="14" name="Text 12"/>
          <p:cNvSpPr/>
          <p:nvPr/>
        </p:nvSpPr>
        <p:spPr>
          <a:xfrm>
            <a:off x="46024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correctness, security and test gaps in a single index</a:t>
            </a:r>
            <a:endParaRPr lang="en-US" sz="1150" dirty="0"/>
          </a:p>
        </p:txBody>
      </p:sp>
      <p:sp>
        <p:nvSpPr>
          <p:cNvPr id="15" name="Shape 13"/>
          <p:cNvSpPr/>
          <p:nvPr/>
        </p:nvSpPr>
        <p:spPr>
          <a:xfrm>
            <a:off x="8107680" y="4480560"/>
            <a:ext cx="3459480" cy="1645920"/>
          </a:xfrm>
          <a:prstGeom prst="rect">
            <a:avLst/>
          </a:prstGeom>
          <a:solidFill>
            <a:srgbClr val="F1F5F9"/>
          </a:solidFill>
          <a:ln/>
        </p:spPr>
      </p:sp>
      <p:sp>
        <p:nvSpPr>
          <p:cNvPr id="16" name="Shape 14"/>
          <p:cNvSpPr/>
          <p:nvPr/>
        </p:nvSpPr>
        <p:spPr>
          <a:xfrm>
            <a:off x="8107680" y="4480560"/>
            <a:ext cx="3459480" cy="82296"/>
          </a:xfrm>
          <a:prstGeom prst="rect">
            <a:avLst/>
          </a:prstGeom>
          <a:solidFill>
            <a:srgbClr val="2E5077"/>
          </a:solidFill>
          <a:ln/>
        </p:spPr>
      </p:sp>
      <p:sp>
        <p:nvSpPr>
          <p:cNvPr id="17" name="Text 15"/>
          <p:cNvSpPr/>
          <p:nvPr/>
        </p:nvSpPr>
        <p:spPr>
          <a:xfrm>
            <a:off x="8336280" y="4736592"/>
            <a:ext cx="3002280" cy="566928"/>
          </a:xfrm>
          <a:prstGeom prst="rect">
            <a:avLst/>
          </a:prstGeom>
          <a:noFill/>
          <a:ln/>
        </p:spPr>
        <p:txBody>
          <a:bodyPr wrap="square" lIns="0" tIns="0" rIns="0" bIns="0" rtlCol="0" anchor="t"/>
          <a:lstStyle/>
          <a:p>
            <a:pPr indent="0" marL="0">
              <a:buNone/>
            </a:pPr>
            <a:r>
              <a:rPr lang="en-US" sz="1450" b="1" dirty="0">
                <a:solidFill>
                  <a:srgbClr val="0F172A"/>
                </a:solidFill>
                <a:latin typeface="Arial" pitchFamily="34" charset="0"/>
                <a:ea typeface="Arial" pitchFamily="34" charset="-122"/>
                <a:cs typeface="Arial" pitchFamily="34" charset="-120"/>
              </a:rPr>
              <a:t>Decisions that stick</a:t>
            </a:r>
            <a:endParaRPr lang="en-US" sz="1450" dirty="0"/>
          </a:p>
        </p:txBody>
      </p:sp>
      <p:sp>
        <p:nvSpPr>
          <p:cNvPr id="18" name="Text 16"/>
          <p:cNvSpPr/>
          <p:nvPr/>
        </p:nvSpPr>
        <p:spPr>
          <a:xfrm>
            <a:off x="8336280" y="5303520"/>
            <a:ext cx="3002280" cy="731520"/>
          </a:xfrm>
          <a:prstGeom prst="rect">
            <a:avLst/>
          </a:prstGeom>
          <a:noFill/>
          <a:ln/>
        </p:spPr>
        <p:txBody>
          <a:bodyPr wrap="square" lIns="0" tIns="0" rIns="0" bIns="0" rtlCol="0" anchor="t"/>
          <a:lstStyle/>
          <a:p>
            <a:pPr indent="0" marL="0">
              <a:buNone/>
            </a:pPr>
            <a:r>
              <a:rPr lang="en-US" sz="1150" dirty="0">
                <a:solidFill>
                  <a:srgbClr val="64748B"/>
                </a:solidFill>
                <a:latin typeface="Arial" pitchFamily="34" charset="0"/>
                <a:ea typeface="Arial" pitchFamily="34" charset="-122"/>
                <a:cs typeface="Arial" pitchFamily="34" charset="-120"/>
              </a:rPr>
              <a:t>findings tracked and carried across re-reviews</a:t>
            </a:r>
            <a:endParaRPr lang="en-US" sz="115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Shape 1"/>
          <p:cNvSpPr/>
          <p:nvPr/>
        </p:nvSpPr>
        <p:spPr>
          <a:xfrm>
            <a:off x="640080" y="502920"/>
            <a:ext cx="1691640" cy="384048"/>
          </a:xfrm>
          <a:prstGeom prst="rect">
            <a:avLst/>
          </a:prstGeom>
          <a:solidFill>
            <a:srgbClr val="2E5077"/>
          </a:solidFill>
          <a:ln/>
        </p:spPr>
      </p:sp>
      <p:sp>
        <p:nvSpPr>
          <p:cNvPr id="4" name="Text 2"/>
          <p:cNvSpPr/>
          <p:nvPr/>
        </p:nvSpPr>
        <p:spPr>
          <a:xfrm>
            <a:off x="640080" y="502920"/>
            <a:ext cx="1691640"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LIVE VIEW</a:t>
            </a:r>
            <a:endParaRPr lang="en-US" sz="1200" dirty="0"/>
          </a:p>
        </p:txBody>
      </p:sp>
      <p:sp>
        <p:nvSpPr>
          <p:cNvPr id="5" name="Text 3"/>
          <p:cNvSpPr/>
          <p:nvPr/>
        </p:nvSpPr>
        <p:spPr>
          <a:xfrm>
            <a:off x="640080" y="10058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Don't memorise — read the current truth</a:t>
            </a:r>
            <a:endParaRPr lang="en-US" sz="2900" dirty="0"/>
          </a:p>
        </p:txBody>
      </p:sp>
      <p:sp>
        <p:nvSpPr>
          <p:cNvPr id="6" name="Shape 4"/>
          <p:cNvSpPr/>
          <p:nvPr/>
        </p:nvSpPr>
        <p:spPr>
          <a:xfrm>
            <a:off x="640080" y="2148840"/>
            <a:ext cx="10927080" cy="914400"/>
          </a:xfrm>
          <a:prstGeom prst="rect">
            <a:avLst/>
          </a:prstGeom>
          <a:solidFill>
            <a:srgbClr val="EAEFF5"/>
          </a:solidFill>
          <a:ln/>
        </p:spPr>
      </p:sp>
      <p:sp>
        <p:nvSpPr>
          <p:cNvPr id="7" name="Shape 5"/>
          <p:cNvSpPr/>
          <p:nvPr/>
        </p:nvSpPr>
        <p:spPr>
          <a:xfrm>
            <a:off x="640080" y="2148840"/>
            <a:ext cx="82296" cy="914400"/>
          </a:xfrm>
          <a:prstGeom prst="rect">
            <a:avLst/>
          </a:prstGeom>
          <a:solidFill>
            <a:srgbClr val="2E5077"/>
          </a:solidFill>
          <a:ln/>
        </p:spPr>
      </p:sp>
      <p:sp>
        <p:nvSpPr>
          <p:cNvPr id="8" name="Text 6"/>
          <p:cNvSpPr/>
          <p:nvPr/>
        </p:nvSpPr>
        <p:spPr>
          <a:xfrm>
            <a:off x="960120" y="214884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review · re-review · walk review</a:t>
            </a:r>
            <a:endParaRPr lang="en-US" sz="1400" dirty="0"/>
          </a:p>
        </p:txBody>
      </p:sp>
      <p:sp>
        <p:nvSpPr>
          <p:cNvPr id="9" name="Text 7"/>
          <p:cNvSpPr/>
          <p:nvPr/>
        </p:nvSpPr>
        <p:spPr>
          <a:xfrm>
            <a:off x="6355080" y="214884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fresh pass, refresh, or interactive triage</a:t>
            </a:r>
            <a:endParaRPr lang="en-US" sz="1300" dirty="0"/>
          </a:p>
        </p:txBody>
      </p:sp>
      <p:sp>
        <p:nvSpPr>
          <p:cNvPr id="10" name="Shape 8"/>
          <p:cNvSpPr/>
          <p:nvPr/>
        </p:nvSpPr>
        <p:spPr>
          <a:xfrm>
            <a:off x="640080" y="3200400"/>
            <a:ext cx="10927080" cy="914400"/>
          </a:xfrm>
          <a:prstGeom prst="rect">
            <a:avLst/>
          </a:prstGeom>
          <a:solidFill>
            <a:srgbClr val="EAEFF5"/>
          </a:solidFill>
          <a:ln/>
        </p:spPr>
      </p:sp>
      <p:sp>
        <p:nvSpPr>
          <p:cNvPr id="11" name="Shape 9"/>
          <p:cNvSpPr/>
          <p:nvPr/>
        </p:nvSpPr>
        <p:spPr>
          <a:xfrm>
            <a:off x="640080" y="3200400"/>
            <a:ext cx="82296" cy="914400"/>
          </a:xfrm>
          <a:prstGeom prst="rect">
            <a:avLst/>
          </a:prstGeom>
          <a:solidFill>
            <a:srgbClr val="2E5077"/>
          </a:solidFill>
          <a:ln/>
        </p:spPr>
      </p:sp>
      <p:sp>
        <p:nvSpPr>
          <p:cNvPr id="12" name="Text 10"/>
          <p:cNvSpPr/>
          <p:nvPr/>
        </p:nvSpPr>
        <p:spPr>
          <a:xfrm>
            <a:off x="960120" y="320040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.claude/skills/review/SKILL.md</a:t>
            </a:r>
            <a:endParaRPr lang="en-US" sz="1400" dirty="0"/>
          </a:p>
        </p:txBody>
      </p:sp>
      <p:sp>
        <p:nvSpPr>
          <p:cNvPr id="13" name="Text 11"/>
          <p:cNvSpPr/>
          <p:nvPr/>
        </p:nvSpPr>
        <p:spPr>
          <a:xfrm>
            <a:off x="6355080" y="320040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the trigger table and scripts cheat-sheet</a:t>
            </a:r>
            <a:endParaRPr lang="en-US" sz="1300" dirty="0"/>
          </a:p>
        </p:txBody>
      </p:sp>
      <p:sp>
        <p:nvSpPr>
          <p:cNvPr id="14" name="Shape 12"/>
          <p:cNvSpPr/>
          <p:nvPr/>
        </p:nvSpPr>
        <p:spPr>
          <a:xfrm>
            <a:off x="640080" y="4251960"/>
            <a:ext cx="10927080" cy="914400"/>
          </a:xfrm>
          <a:prstGeom prst="rect">
            <a:avLst/>
          </a:prstGeom>
          <a:solidFill>
            <a:srgbClr val="EAEFF5"/>
          </a:solidFill>
          <a:ln/>
        </p:spPr>
      </p:sp>
      <p:sp>
        <p:nvSpPr>
          <p:cNvPr id="15" name="Shape 13"/>
          <p:cNvSpPr/>
          <p:nvPr/>
        </p:nvSpPr>
        <p:spPr>
          <a:xfrm>
            <a:off x="640080" y="4251960"/>
            <a:ext cx="82296" cy="914400"/>
          </a:xfrm>
          <a:prstGeom prst="rect">
            <a:avLst/>
          </a:prstGeom>
          <a:solidFill>
            <a:srgbClr val="2E5077"/>
          </a:solidFill>
          <a:ln/>
        </p:spPr>
      </p:sp>
      <p:sp>
        <p:nvSpPr>
          <p:cNvPr id="16" name="Text 14"/>
          <p:cNvSpPr/>
          <p:nvPr/>
        </p:nvSpPr>
        <p:spPr>
          <a:xfrm>
            <a:off x="960120" y="4251960"/>
            <a:ext cx="5212080" cy="914400"/>
          </a:xfrm>
          <a:prstGeom prst="rect">
            <a:avLst/>
          </a:prstGeom>
          <a:noFill/>
          <a:ln/>
        </p:spPr>
        <p:txBody>
          <a:bodyPr wrap="square" lIns="0" tIns="0" rIns="0" bIns="0" rtlCol="0" anchor="ctr"/>
          <a:lstStyle/>
          <a:p>
            <a:pPr indent="0" marL="0">
              <a:buNone/>
            </a:pPr>
            <a:r>
              <a:rPr lang="en-US" sz="1400" b="1" dirty="0">
                <a:solidFill>
                  <a:srgbClr val="22405F"/>
                </a:solidFill>
                <a:latin typeface="Courier New" pitchFamily="34" charset="0"/>
                <a:ea typeface="Courier New" pitchFamily="34" charset="-122"/>
                <a:cs typeface="Courier New" pitchFamily="34" charset="-120"/>
              </a:rPr>
              <a:t>review-items.sh EUDPA-X --json</a:t>
            </a:r>
            <a:endParaRPr lang="en-US" sz="1400" dirty="0"/>
          </a:p>
        </p:txBody>
      </p:sp>
      <p:sp>
        <p:nvSpPr>
          <p:cNvPr id="17" name="Text 15"/>
          <p:cNvSpPr/>
          <p:nvPr/>
        </p:nvSpPr>
        <p:spPr>
          <a:xfrm>
            <a:off x="6355080" y="4251960"/>
            <a:ext cx="4892040" cy="9144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the live findings mid-review</a:t>
            </a:r>
            <a:endParaRPr lang="en-US" sz="1300" dirty="0"/>
          </a:p>
        </p:txBody>
      </p:sp>
      <p:sp>
        <p:nvSpPr>
          <p:cNvPr id="18" name="Text 16"/>
          <p:cNvSpPr/>
          <p:nvPr/>
        </p:nvSpPr>
        <p:spPr>
          <a:xfrm>
            <a:off x="640080" y="534924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The SKILL.md is what the agent actually executes — it can't drift from reality.</a:t>
            </a:r>
            <a:endParaRPr lang="en-US" sz="1300" dirty="0"/>
          </a:p>
        </p:txBody>
      </p:sp>
      <p:sp>
        <p:nvSpPr>
          <p:cNvPr id="19" name="Text 17"/>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20" name="Text 18"/>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WATCH IT RUN</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review end to end</a:t>
            </a:r>
            <a:endParaRPr lang="en-US" sz="2900" dirty="0"/>
          </a:p>
        </p:txBody>
      </p:sp>
      <p:sp>
        <p:nvSpPr>
          <p:cNvPr id="5" name="Text 3"/>
          <p:cNvSpPr/>
          <p:nvPr/>
        </p:nvSpPr>
        <p:spPr>
          <a:xfrm>
            <a:off x="640080" y="1536192"/>
            <a:ext cx="10927080" cy="411480"/>
          </a:xfrm>
          <a:prstGeom prst="rect">
            <a:avLst/>
          </a:prstGeom>
          <a:noFill/>
          <a:ln/>
        </p:spPr>
        <p:txBody>
          <a:bodyPr wrap="square" lIns="0" tIns="0" rIns="0" bIns="0" rtlCol="0" anchor="ctr"/>
          <a:lstStyle/>
          <a:p>
            <a:pPr indent="0" marL="0">
              <a:buNone/>
            </a:pPr>
            <a:r>
              <a:rPr lang="en-US" sz="1250" b="1" dirty="0">
                <a:solidFill>
                  <a:srgbClr val="64748B"/>
                </a:solidFill>
                <a:latin typeface="Arial" pitchFamily="34" charset="0"/>
                <a:ea typeface="Arial" pitchFamily="34" charset="-122"/>
                <a:cs typeface="Arial" pitchFamily="34" charset="-120"/>
              </a:rPr>
              <a:t>Trigger it:  </a:t>
            </a:r>
            <a:pPr indent="0" marL="0">
              <a:buNone/>
            </a:pPr>
            <a:r>
              <a:rPr lang="en-US" sz="1250" dirty="0">
                <a:solidFill>
                  <a:srgbClr val="2E5077"/>
                </a:solidFill>
                <a:latin typeface="Courier New" pitchFamily="34" charset="0"/>
                <a:ea typeface="Courier New" pitchFamily="34" charset="-122"/>
                <a:cs typeface="Courier New" pitchFamily="34" charset="-120"/>
              </a:rPr>
              <a:t>"review EUDPA-1234" · "re-review" · "walk review EUDPA-1234" · "implement review"</a:t>
            </a:r>
            <a:endParaRPr lang="en-US" sz="1250" dirty="0"/>
          </a:p>
        </p:txBody>
      </p:sp>
      <p:sp>
        <p:nvSpPr>
          <p:cNvPr id="6" name="Shape 4"/>
          <p:cNvSpPr/>
          <p:nvPr/>
        </p:nvSpPr>
        <p:spPr>
          <a:xfrm>
            <a:off x="640080" y="2148840"/>
            <a:ext cx="10927080" cy="738835"/>
          </a:xfrm>
          <a:prstGeom prst="rect">
            <a:avLst/>
          </a:prstGeom>
          <a:solidFill>
            <a:srgbClr val="F1F5F9"/>
          </a:solidFill>
          <a:ln/>
        </p:spPr>
      </p:sp>
      <p:sp>
        <p:nvSpPr>
          <p:cNvPr id="7" name="Shape 5"/>
          <p:cNvSpPr/>
          <p:nvPr/>
        </p:nvSpPr>
        <p:spPr>
          <a:xfrm>
            <a:off x="896112" y="2317090"/>
            <a:ext cx="402336" cy="402336"/>
          </a:xfrm>
          <a:prstGeom prst="ellipse">
            <a:avLst/>
          </a:prstGeom>
          <a:solidFill>
            <a:srgbClr val="2E5077"/>
          </a:solidFill>
          <a:ln/>
        </p:spPr>
      </p:sp>
      <p:sp>
        <p:nvSpPr>
          <p:cNvPr id="8" name="Text 6"/>
          <p:cNvSpPr/>
          <p:nvPr/>
        </p:nvSpPr>
        <p:spPr>
          <a:xfrm>
            <a:off x="896112" y="2317090"/>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1508760" y="2221992"/>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Kick off</a:t>
            </a:r>
            <a:endParaRPr lang="en-US" sz="1450" dirty="0"/>
          </a:p>
        </p:txBody>
      </p:sp>
      <p:sp>
        <p:nvSpPr>
          <p:cNvPr id="10" name="Text 8"/>
          <p:cNvSpPr/>
          <p:nvPr/>
        </p:nvSpPr>
        <p:spPr>
          <a:xfrm>
            <a:off x="4343400" y="2221992"/>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"review EUDPA-1234" — it works out fresh vs refresh, clones the repos and sets up the review workspace.</a:t>
            </a:r>
            <a:endParaRPr lang="en-US" sz="1250" dirty="0"/>
          </a:p>
        </p:txBody>
      </p:sp>
      <p:sp>
        <p:nvSpPr>
          <p:cNvPr id="11" name="Shape 9"/>
          <p:cNvSpPr/>
          <p:nvPr/>
        </p:nvSpPr>
        <p:spPr>
          <a:xfrm>
            <a:off x="640080" y="3015691"/>
            <a:ext cx="10927080" cy="738835"/>
          </a:xfrm>
          <a:prstGeom prst="rect">
            <a:avLst/>
          </a:prstGeom>
          <a:solidFill>
            <a:srgbClr val="F1F5F9"/>
          </a:solidFill>
          <a:ln/>
        </p:spPr>
      </p:sp>
      <p:sp>
        <p:nvSpPr>
          <p:cNvPr id="12" name="Shape 10"/>
          <p:cNvSpPr/>
          <p:nvPr/>
        </p:nvSpPr>
        <p:spPr>
          <a:xfrm>
            <a:off x="896112" y="3183941"/>
            <a:ext cx="402336" cy="402336"/>
          </a:xfrm>
          <a:prstGeom prst="ellipse">
            <a:avLst/>
          </a:prstGeom>
          <a:solidFill>
            <a:srgbClr val="2E5077"/>
          </a:solidFill>
          <a:ln/>
        </p:spPr>
      </p:sp>
      <p:sp>
        <p:nvSpPr>
          <p:cNvPr id="13" name="Text 11"/>
          <p:cNvSpPr/>
          <p:nvPr/>
        </p:nvSpPr>
        <p:spPr>
          <a:xfrm>
            <a:off x="896112" y="3183941"/>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1508760" y="3088843"/>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Fan out</a:t>
            </a:r>
            <a:endParaRPr lang="en-US" sz="1450" dirty="0"/>
          </a:p>
        </p:txBody>
      </p:sp>
      <p:sp>
        <p:nvSpPr>
          <p:cNvPr id="15" name="Text 13"/>
          <p:cNvSpPr/>
          <p:nvPr/>
        </p:nvSpPr>
        <p:spPr>
          <a:xfrm>
            <a:off x="4343400" y="3088843"/>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a per-file reviewer runs across every changed file in parallel; it won't proceed until 100% of files are covered.</a:t>
            </a:r>
            <a:endParaRPr lang="en-US" sz="1250" dirty="0"/>
          </a:p>
        </p:txBody>
      </p:sp>
      <p:sp>
        <p:nvSpPr>
          <p:cNvPr id="16" name="Shape 14"/>
          <p:cNvSpPr/>
          <p:nvPr/>
        </p:nvSpPr>
        <p:spPr>
          <a:xfrm>
            <a:off x="640080" y="3882542"/>
            <a:ext cx="10927080" cy="738835"/>
          </a:xfrm>
          <a:prstGeom prst="rect">
            <a:avLst/>
          </a:prstGeom>
          <a:solidFill>
            <a:srgbClr val="F1F5F9"/>
          </a:solidFill>
          <a:ln/>
        </p:spPr>
      </p:sp>
      <p:sp>
        <p:nvSpPr>
          <p:cNvPr id="17" name="Shape 15"/>
          <p:cNvSpPr/>
          <p:nvPr/>
        </p:nvSpPr>
        <p:spPr>
          <a:xfrm>
            <a:off x="896112" y="4050792"/>
            <a:ext cx="402336" cy="402336"/>
          </a:xfrm>
          <a:prstGeom prst="ellipse">
            <a:avLst/>
          </a:prstGeom>
          <a:solidFill>
            <a:srgbClr val="2E5077"/>
          </a:solidFill>
          <a:ln/>
        </p:spPr>
      </p:sp>
      <p:sp>
        <p:nvSpPr>
          <p:cNvPr id="18" name="Text 16"/>
          <p:cNvSpPr/>
          <p:nvPr/>
        </p:nvSpPr>
        <p:spPr>
          <a:xfrm>
            <a:off x="896112" y="4050792"/>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1508760" y="3955694"/>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Consistency &amp; write-up</a:t>
            </a:r>
            <a:endParaRPr lang="en-US" sz="1450" dirty="0"/>
          </a:p>
        </p:txBody>
      </p:sp>
      <p:sp>
        <p:nvSpPr>
          <p:cNvPr id="20" name="Text 18"/>
          <p:cNvSpPr/>
          <p:nvPr/>
        </p:nvSpPr>
        <p:spPr>
          <a:xfrm>
            <a:off x="4343400" y="3955694"/>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it runs a per-repo consistency check, then writes a review doc per repo plus a top-level index — verdict, acceptance-criteria check and a risk matrix.</a:t>
            </a:r>
            <a:endParaRPr lang="en-US" sz="1250" dirty="0"/>
          </a:p>
        </p:txBody>
      </p:sp>
      <p:sp>
        <p:nvSpPr>
          <p:cNvPr id="21" name="Shape 19"/>
          <p:cNvSpPr/>
          <p:nvPr/>
        </p:nvSpPr>
        <p:spPr>
          <a:xfrm>
            <a:off x="640080" y="4749394"/>
            <a:ext cx="10927080" cy="738835"/>
          </a:xfrm>
          <a:prstGeom prst="rect">
            <a:avLst/>
          </a:prstGeom>
          <a:solidFill>
            <a:srgbClr val="F1F5F9"/>
          </a:solidFill>
          <a:ln/>
        </p:spPr>
      </p:sp>
      <p:sp>
        <p:nvSpPr>
          <p:cNvPr id="22" name="Shape 20"/>
          <p:cNvSpPr/>
          <p:nvPr/>
        </p:nvSpPr>
        <p:spPr>
          <a:xfrm>
            <a:off x="896112" y="4917643"/>
            <a:ext cx="402336" cy="402336"/>
          </a:xfrm>
          <a:prstGeom prst="ellipse">
            <a:avLst/>
          </a:prstGeom>
          <a:solidFill>
            <a:srgbClr val="2E5077"/>
          </a:solidFill>
          <a:ln/>
        </p:spPr>
      </p:sp>
      <p:sp>
        <p:nvSpPr>
          <p:cNvPr id="23" name="Text 21"/>
          <p:cNvSpPr/>
          <p:nvPr/>
        </p:nvSpPr>
        <p:spPr>
          <a:xfrm>
            <a:off x="896112" y="4917643"/>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4" name="Text 22"/>
          <p:cNvSpPr/>
          <p:nvPr/>
        </p:nvSpPr>
        <p:spPr>
          <a:xfrm>
            <a:off x="1508760" y="4822546"/>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Triage</a:t>
            </a:r>
            <a:endParaRPr lang="en-US" sz="1450" dirty="0"/>
          </a:p>
        </p:txBody>
      </p:sp>
      <p:sp>
        <p:nvSpPr>
          <p:cNvPr id="25" name="Text 23"/>
          <p:cNvSpPr/>
          <p:nvPr/>
        </p:nvSpPr>
        <p:spPr>
          <a:xfrm>
            <a:off x="4343400" y="4822546"/>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"walk review EUDPA-1234" steps you through findings one at a time: Fix, Won't-fix or Discuss.</a:t>
            </a:r>
            <a:endParaRPr lang="en-US" sz="1250" dirty="0"/>
          </a:p>
        </p:txBody>
      </p:sp>
      <p:sp>
        <p:nvSpPr>
          <p:cNvPr id="26" name="Shape 24"/>
          <p:cNvSpPr/>
          <p:nvPr/>
        </p:nvSpPr>
        <p:spPr>
          <a:xfrm>
            <a:off x="640080" y="5616245"/>
            <a:ext cx="10927080" cy="738835"/>
          </a:xfrm>
          <a:prstGeom prst="rect">
            <a:avLst/>
          </a:prstGeom>
          <a:solidFill>
            <a:srgbClr val="F1F5F9"/>
          </a:solidFill>
          <a:ln/>
        </p:spPr>
      </p:sp>
      <p:sp>
        <p:nvSpPr>
          <p:cNvPr id="27" name="Shape 25"/>
          <p:cNvSpPr/>
          <p:nvPr/>
        </p:nvSpPr>
        <p:spPr>
          <a:xfrm>
            <a:off x="896112" y="5784494"/>
            <a:ext cx="402336" cy="402336"/>
          </a:xfrm>
          <a:prstGeom prst="ellipse">
            <a:avLst/>
          </a:prstGeom>
          <a:solidFill>
            <a:srgbClr val="2E5077"/>
          </a:solidFill>
          <a:ln/>
        </p:spPr>
      </p:sp>
      <p:sp>
        <p:nvSpPr>
          <p:cNvPr id="28" name="Text 26"/>
          <p:cNvSpPr/>
          <p:nvPr/>
        </p:nvSpPr>
        <p:spPr>
          <a:xfrm>
            <a:off x="896112" y="5784494"/>
            <a:ext cx="402336" cy="402336"/>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9" name="Text 27"/>
          <p:cNvSpPr/>
          <p:nvPr/>
        </p:nvSpPr>
        <p:spPr>
          <a:xfrm>
            <a:off x="1508760" y="5689397"/>
            <a:ext cx="2743200" cy="592531"/>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Apply or hand off</a:t>
            </a:r>
            <a:endParaRPr lang="en-US" sz="1450" dirty="0"/>
          </a:p>
        </p:txBody>
      </p:sp>
      <p:sp>
        <p:nvSpPr>
          <p:cNvPr id="30" name="Text 28"/>
          <p:cNvSpPr/>
          <p:nvPr/>
        </p:nvSpPr>
        <p:spPr>
          <a:xfrm>
            <a:off x="4343400" y="5689397"/>
            <a:ext cx="7040880" cy="592531"/>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"implement review" applies the queued fixes; on someone else's PR it can push a branch and post the findings as inline comments.</a:t>
            </a:r>
            <a:endParaRPr lang="en-US" sz="1250" dirty="0"/>
          </a:p>
        </p:txBody>
      </p:sp>
      <p:sp>
        <p:nvSpPr>
          <p:cNvPr id="31" name="Text 29"/>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32" name="Text 30"/>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READING THE OUTPUT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What it produces</a:t>
            </a:r>
            <a:endParaRPr lang="en-US" sz="2900" dirty="0"/>
          </a:p>
        </p:txBody>
      </p:sp>
      <p:sp>
        <p:nvSpPr>
          <p:cNvPr id="5" name="Text 3"/>
          <p:cNvSpPr/>
          <p:nvPr/>
        </p:nvSpPr>
        <p:spPr>
          <a:xfrm>
            <a:off x="640080" y="1554480"/>
            <a:ext cx="10789920" cy="411480"/>
          </a:xfrm>
          <a:prstGeom prst="rect">
            <a:avLst/>
          </a:prstGeom>
          <a:noFill/>
          <a:ln/>
        </p:spPr>
        <p:txBody>
          <a:bodyPr wrap="square" lIns="0" tIns="0" rIns="0" bIns="0" rtlCol="0" anchor="ctr"/>
          <a:lstStyle/>
          <a:p>
            <a:pPr indent="0" marL="0">
              <a:buNone/>
            </a:pPr>
            <a:r>
              <a:rPr lang="en-US" sz="1500" dirty="0">
                <a:solidFill>
                  <a:srgbClr val="64748B"/>
                </a:solidFill>
                <a:latin typeface="Arial" pitchFamily="34" charset="0"/>
                <a:ea typeface="Arial" pitchFamily="34" charset="-122"/>
                <a:cs typeface="Arial" pitchFamily="34" charset="-120"/>
              </a:rPr>
              <a:t>All under workareas/reviews/EUDPA-X/.</a:t>
            </a:r>
            <a:endParaRPr lang="en-US" sz="1500" dirty="0"/>
          </a:p>
        </p:txBody>
      </p:sp>
      <p:sp>
        <p:nvSpPr>
          <p:cNvPr id="6" name="Shape 4"/>
          <p:cNvSpPr/>
          <p:nvPr/>
        </p:nvSpPr>
        <p:spPr>
          <a:xfrm>
            <a:off x="640080" y="2148840"/>
            <a:ext cx="10927080" cy="1289304"/>
          </a:xfrm>
          <a:prstGeom prst="rect">
            <a:avLst/>
          </a:prstGeom>
          <a:solidFill>
            <a:srgbClr val="F1F5F9"/>
          </a:solidFill>
          <a:ln/>
        </p:spPr>
      </p:sp>
      <p:sp>
        <p:nvSpPr>
          <p:cNvPr id="7" name="Shape 5"/>
          <p:cNvSpPr/>
          <p:nvPr/>
        </p:nvSpPr>
        <p:spPr>
          <a:xfrm>
            <a:off x="640080" y="2148840"/>
            <a:ext cx="82296" cy="1289304"/>
          </a:xfrm>
          <a:prstGeom prst="rect">
            <a:avLst/>
          </a:prstGeom>
          <a:solidFill>
            <a:srgbClr val="2E5077"/>
          </a:solidFill>
          <a:ln/>
        </p:spPr>
      </p:sp>
      <p:sp>
        <p:nvSpPr>
          <p:cNvPr id="8" name="Text 6"/>
          <p:cNvSpPr/>
          <p:nvPr/>
        </p:nvSpPr>
        <p:spPr>
          <a:xfrm>
            <a:off x="960120" y="2194560"/>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review-index.md</a:t>
            </a:r>
            <a:endParaRPr lang="en-US" sz="1300" dirty="0"/>
          </a:p>
        </p:txBody>
      </p:sp>
      <p:sp>
        <p:nvSpPr>
          <p:cNvPr id="9" name="Text 7"/>
          <p:cNvSpPr/>
          <p:nvPr/>
        </p:nvSpPr>
        <p:spPr>
          <a:xfrm>
            <a:off x="5303520" y="2194560"/>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start here — verdict (PASS / NOTES / CONCERNS / FAIL), AC check, risk matrix</a:t>
            </a:r>
            <a:endParaRPr lang="en-US" sz="1250" dirty="0"/>
          </a:p>
        </p:txBody>
      </p:sp>
      <p:sp>
        <p:nvSpPr>
          <p:cNvPr id="10" name="Shape 8"/>
          <p:cNvSpPr/>
          <p:nvPr/>
        </p:nvSpPr>
        <p:spPr>
          <a:xfrm>
            <a:off x="640080" y="3584448"/>
            <a:ext cx="10927080" cy="1289304"/>
          </a:xfrm>
          <a:prstGeom prst="rect">
            <a:avLst/>
          </a:prstGeom>
          <a:solidFill>
            <a:srgbClr val="F1F5F9"/>
          </a:solidFill>
          <a:ln/>
        </p:spPr>
      </p:sp>
      <p:sp>
        <p:nvSpPr>
          <p:cNvPr id="11" name="Shape 9"/>
          <p:cNvSpPr/>
          <p:nvPr/>
        </p:nvSpPr>
        <p:spPr>
          <a:xfrm>
            <a:off x="640080" y="3584448"/>
            <a:ext cx="82296" cy="1289304"/>
          </a:xfrm>
          <a:prstGeom prst="rect">
            <a:avLst/>
          </a:prstGeom>
          <a:solidFill>
            <a:srgbClr val="2E5077"/>
          </a:solidFill>
          <a:ln/>
        </p:spPr>
      </p:sp>
      <p:sp>
        <p:nvSpPr>
          <p:cNvPr id="12" name="Text 10"/>
          <p:cNvSpPr/>
          <p:nvPr/>
        </p:nvSpPr>
        <p:spPr>
          <a:xfrm>
            <a:off x="960120" y="3630168"/>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review.&lt;repo&gt;.md</a:t>
            </a:r>
            <a:endParaRPr lang="en-US" sz="1300" dirty="0"/>
          </a:p>
        </p:txBody>
      </p:sp>
      <p:sp>
        <p:nvSpPr>
          <p:cNvPr id="13" name="Text 11"/>
          <p:cNvSpPr/>
          <p:nvPr/>
        </p:nvSpPr>
        <p:spPr>
          <a:xfrm>
            <a:off x="5303520" y="3630168"/>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per repo — file-analysis table, coverage, and the Items findings table</a:t>
            </a:r>
            <a:endParaRPr lang="en-US" sz="1250" dirty="0"/>
          </a:p>
        </p:txBody>
      </p:sp>
      <p:sp>
        <p:nvSpPr>
          <p:cNvPr id="14" name="Shape 12"/>
          <p:cNvSpPr/>
          <p:nvPr/>
        </p:nvSpPr>
        <p:spPr>
          <a:xfrm>
            <a:off x="640080" y="5020056"/>
            <a:ext cx="10927080" cy="1289304"/>
          </a:xfrm>
          <a:prstGeom prst="rect">
            <a:avLst/>
          </a:prstGeom>
          <a:solidFill>
            <a:srgbClr val="F1F5F9"/>
          </a:solidFill>
          <a:ln/>
        </p:spPr>
      </p:sp>
      <p:sp>
        <p:nvSpPr>
          <p:cNvPr id="15" name="Shape 13"/>
          <p:cNvSpPr/>
          <p:nvPr/>
        </p:nvSpPr>
        <p:spPr>
          <a:xfrm>
            <a:off x="640080" y="5020056"/>
            <a:ext cx="82296" cy="1289304"/>
          </a:xfrm>
          <a:prstGeom prst="rect">
            <a:avLst/>
          </a:prstGeom>
          <a:solidFill>
            <a:srgbClr val="2E5077"/>
          </a:solidFill>
          <a:ln/>
        </p:spPr>
      </p:sp>
      <p:sp>
        <p:nvSpPr>
          <p:cNvPr id="16" name="Text 14"/>
          <p:cNvSpPr/>
          <p:nvPr/>
        </p:nvSpPr>
        <p:spPr>
          <a:xfrm>
            <a:off x="960120" y="5065776"/>
            <a:ext cx="4206240" cy="1197864"/>
          </a:xfrm>
          <a:prstGeom prst="rect">
            <a:avLst/>
          </a:prstGeom>
          <a:noFill/>
          <a:ln/>
        </p:spPr>
        <p:txBody>
          <a:bodyPr wrap="square" lIns="0" tIns="0" rIns="0" bIns="0" rtlCol="0" anchor="ctr"/>
          <a:lstStyle/>
          <a:p>
            <a:pPr indent="0" marL="0">
              <a:buNone/>
            </a:pPr>
            <a:r>
              <a:rPr lang="en-US" sz="1300" b="1" dirty="0">
                <a:solidFill>
                  <a:srgbClr val="2E5077"/>
                </a:solidFill>
                <a:latin typeface="Courier New" pitchFamily="34" charset="0"/>
                <a:ea typeface="Courier New" pitchFamily="34" charset="-122"/>
                <a:cs typeface="Courier New" pitchFamily="34" charset="-120"/>
              </a:rPr>
              <a:t>items.&lt;repo&gt;.json</a:t>
            </a:r>
            <a:endParaRPr lang="en-US" sz="1300" dirty="0"/>
          </a:p>
        </p:txBody>
      </p:sp>
      <p:sp>
        <p:nvSpPr>
          <p:cNvPr id="17" name="Text 15"/>
          <p:cNvSpPr/>
          <p:nvPr/>
        </p:nvSpPr>
        <p:spPr>
          <a:xfrm>
            <a:off x="5303520" y="5065776"/>
            <a:ext cx="6035040" cy="1197864"/>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the canonical state behind the table — don't hand-edit; it's regenerated</a:t>
            </a:r>
            <a:endParaRPr lang="en-US" sz="1250" dirty="0"/>
          </a:p>
        </p:txBody>
      </p:sp>
      <p:sp>
        <p:nvSpPr>
          <p:cNvPr id="18" name="Text 16"/>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19" name="Text 17"/>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HOW YOU USE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review in your workflow</a:t>
            </a:r>
            <a:endParaRPr lang="en-US" sz="2900" dirty="0"/>
          </a:p>
        </p:txBody>
      </p:sp>
      <p:sp>
        <p:nvSpPr>
          <p:cNvPr id="5" name="Shape 3"/>
          <p:cNvSpPr/>
          <p:nvPr/>
        </p:nvSpPr>
        <p:spPr>
          <a:xfrm>
            <a:off x="640080" y="1965960"/>
            <a:ext cx="10927080" cy="1222248"/>
          </a:xfrm>
          <a:prstGeom prst="rect">
            <a:avLst/>
          </a:prstGeom>
          <a:solidFill>
            <a:srgbClr val="F1F5F9"/>
          </a:solidFill>
          <a:ln/>
        </p:spPr>
      </p:sp>
      <p:sp>
        <p:nvSpPr>
          <p:cNvPr id="6" name="Shape 4"/>
          <p:cNvSpPr/>
          <p:nvPr/>
        </p:nvSpPr>
        <p:spPr>
          <a:xfrm>
            <a:off x="640080" y="1965960"/>
            <a:ext cx="82296" cy="1222248"/>
          </a:xfrm>
          <a:prstGeom prst="rect">
            <a:avLst/>
          </a:prstGeom>
          <a:solidFill>
            <a:srgbClr val="2E5077"/>
          </a:solidFill>
          <a:ln/>
        </p:spPr>
      </p:sp>
      <p:sp>
        <p:nvSpPr>
          <p:cNvPr id="7" name="Text 5"/>
          <p:cNvSpPr/>
          <p:nvPr/>
        </p:nvSpPr>
        <p:spPr>
          <a:xfrm>
            <a:off x="960120" y="2011680"/>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Reach for it when</a:t>
            </a:r>
            <a:endParaRPr lang="en-US" sz="1500" dirty="0"/>
          </a:p>
        </p:txBody>
      </p:sp>
      <p:sp>
        <p:nvSpPr>
          <p:cNvPr id="8" name="Text 6"/>
          <p:cNvSpPr/>
          <p:nvPr/>
        </p:nvSpPr>
        <p:spPr>
          <a:xfrm>
            <a:off x="4251960" y="2011680"/>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 ticket's PRs are up and you want a thorough pass before approving</a:t>
            </a:r>
            <a:endParaRPr lang="en-US" sz="1300" dirty="0"/>
          </a:p>
        </p:txBody>
      </p:sp>
      <p:sp>
        <p:nvSpPr>
          <p:cNvPr id="9" name="Shape 7"/>
          <p:cNvSpPr/>
          <p:nvPr/>
        </p:nvSpPr>
        <p:spPr>
          <a:xfrm>
            <a:off x="640080" y="3389376"/>
            <a:ext cx="10927080" cy="1222248"/>
          </a:xfrm>
          <a:prstGeom prst="rect">
            <a:avLst/>
          </a:prstGeom>
          <a:solidFill>
            <a:srgbClr val="F1F5F9"/>
          </a:solidFill>
          <a:ln/>
        </p:spPr>
      </p:sp>
      <p:sp>
        <p:nvSpPr>
          <p:cNvPr id="10" name="Shape 8"/>
          <p:cNvSpPr/>
          <p:nvPr/>
        </p:nvSpPr>
        <p:spPr>
          <a:xfrm>
            <a:off x="640080" y="3389376"/>
            <a:ext cx="82296" cy="1222248"/>
          </a:xfrm>
          <a:prstGeom prst="rect">
            <a:avLst/>
          </a:prstGeom>
          <a:solidFill>
            <a:srgbClr val="2E5077"/>
          </a:solidFill>
          <a:ln/>
        </p:spPr>
      </p:sp>
      <p:sp>
        <p:nvSpPr>
          <p:cNvPr id="11" name="Text 9"/>
          <p:cNvSpPr/>
          <p:nvPr/>
        </p:nvSpPr>
        <p:spPr>
          <a:xfrm>
            <a:off x="960120" y="3435096"/>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Where you decide</a:t>
            </a:r>
            <a:endParaRPr lang="en-US" sz="1500" dirty="0"/>
          </a:p>
        </p:txBody>
      </p:sp>
      <p:sp>
        <p:nvSpPr>
          <p:cNvPr id="12" name="Text 10"/>
          <p:cNvSpPr/>
          <p:nvPr/>
        </p:nvSpPr>
        <p:spPr>
          <a:xfrm>
            <a:off x="4251960" y="3435096"/>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you set each finding's disposition and own the merge — it advises, you approve</a:t>
            </a:r>
            <a:endParaRPr lang="en-US" sz="1300" dirty="0"/>
          </a:p>
        </p:txBody>
      </p:sp>
      <p:sp>
        <p:nvSpPr>
          <p:cNvPr id="13" name="Shape 11"/>
          <p:cNvSpPr/>
          <p:nvPr/>
        </p:nvSpPr>
        <p:spPr>
          <a:xfrm>
            <a:off x="640080" y="4812792"/>
            <a:ext cx="10927080" cy="1222248"/>
          </a:xfrm>
          <a:prstGeom prst="rect">
            <a:avLst/>
          </a:prstGeom>
          <a:solidFill>
            <a:srgbClr val="F1F5F9"/>
          </a:solidFill>
          <a:ln/>
        </p:spPr>
      </p:sp>
      <p:sp>
        <p:nvSpPr>
          <p:cNvPr id="14" name="Shape 12"/>
          <p:cNvSpPr/>
          <p:nvPr/>
        </p:nvSpPr>
        <p:spPr>
          <a:xfrm>
            <a:off x="640080" y="4812792"/>
            <a:ext cx="82296" cy="1222248"/>
          </a:xfrm>
          <a:prstGeom prst="rect">
            <a:avLst/>
          </a:prstGeom>
          <a:solidFill>
            <a:srgbClr val="2E5077"/>
          </a:solidFill>
          <a:ln/>
        </p:spPr>
      </p:sp>
      <p:sp>
        <p:nvSpPr>
          <p:cNvPr id="15" name="Text 13"/>
          <p:cNvSpPr/>
          <p:nvPr/>
        </p:nvSpPr>
        <p:spPr>
          <a:xfrm>
            <a:off x="960120" y="4858512"/>
            <a:ext cx="3108960" cy="1130808"/>
          </a:xfrm>
          <a:prstGeom prst="rect">
            <a:avLst/>
          </a:prstGeom>
          <a:noFill/>
          <a:ln/>
        </p:spPr>
        <p:txBody>
          <a:bodyPr wrap="square" lIns="0" tIns="0" rIns="0" bIns="0" rtlCol="0" anchor="ctr"/>
          <a:lstStyle/>
          <a:p>
            <a:pPr indent="0" marL="0">
              <a:buNone/>
            </a:pPr>
            <a:r>
              <a:rPr lang="en-US" sz="1500" b="1" dirty="0">
                <a:solidFill>
                  <a:srgbClr val="0F172A"/>
                </a:solidFill>
                <a:latin typeface="Arial" pitchFamily="34" charset="0"/>
                <a:ea typeface="Arial" pitchFamily="34" charset="-122"/>
                <a:cs typeface="Arial" pitchFamily="34" charset="-120"/>
              </a:rPr>
              <a:t>How it fits</a:t>
            </a:r>
            <a:endParaRPr lang="en-US" sz="1500" dirty="0"/>
          </a:p>
        </p:txBody>
      </p:sp>
      <p:sp>
        <p:nvSpPr>
          <p:cNvPr id="16" name="Text 14"/>
          <p:cNvSpPr/>
          <p:nvPr/>
        </p:nvSpPr>
        <p:spPr>
          <a:xfrm>
            <a:off x="4251960" y="4858512"/>
            <a:ext cx="7040880" cy="1130808"/>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pairs with code-style (the JS guide) and understanding-check (author grasp)</a:t>
            </a:r>
            <a:endParaRPr lang="en-US" sz="1300" dirty="0"/>
          </a:p>
        </p:txBody>
      </p:sp>
      <p:sp>
        <p:nvSpPr>
          <p:cNvPr id="17" name="Text 15"/>
          <p:cNvSpPr/>
          <p:nvPr/>
        </p:nvSpPr>
        <p:spPr>
          <a:xfrm>
            <a:off x="640080" y="64008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trade-imports-animals onboarding</a:t>
            </a:r>
            <a:endParaRPr lang="en-US" sz="900" dirty="0"/>
          </a:p>
        </p:txBody>
      </p:sp>
      <p:sp>
        <p:nvSpPr>
          <p:cNvPr id="18" name="Text 16"/>
          <p:cNvSpPr/>
          <p:nvPr/>
        </p:nvSpPr>
        <p:spPr>
          <a:xfrm>
            <a:off x="11094415" y="6400800"/>
            <a:ext cx="548640" cy="274320"/>
          </a:xfrm>
          <a:prstGeom prst="rect">
            <a:avLst/>
          </a:prstGeom>
          <a:noFill/>
          <a:ln/>
        </p:spPr>
        <p:txBody>
          <a:bodyPr wrap="square" rtlCol="0" anchor="ctr"/>
          <a:lstStyle/>
          <a:p>
            <a:pPr algn="r" indent="0" marL="0">
              <a:buNone/>
            </a:pPr>
            <a:r>
              <a:rPr lang="en-US" sz="900" dirty="0">
                <a:solidFill>
                  <a:srgbClr val="94A3B8"/>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E5077"/>
          </a:solidFill>
          <a:ln/>
        </p:spPr>
      </p:sp>
      <p:sp>
        <p:nvSpPr>
          <p:cNvPr id="3" name="Text 1"/>
          <p:cNvSpPr/>
          <p:nvPr/>
        </p:nvSpPr>
        <p:spPr>
          <a:xfrm>
            <a:off x="640080" y="502920"/>
            <a:ext cx="10789920" cy="274320"/>
          </a:xfrm>
          <a:prstGeom prst="rect">
            <a:avLst/>
          </a:prstGeom>
          <a:noFill/>
          <a:ln/>
        </p:spPr>
        <p:txBody>
          <a:bodyPr wrap="square" lIns="0" tIns="0" rIns="0" bIns="0" rtlCol="0" anchor="ctr"/>
          <a:lstStyle/>
          <a:p>
            <a:pPr indent="0" marL="0">
              <a:buNone/>
            </a:pPr>
            <a:r>
              <a:rPr lang="en-US" sz="1200" b="1" spc="200" kern="0" dirty="0">
                <a:solidFill>
                  <a:srgbClr val="2E5077"/>
                </a:solidFill>
                <a:latin typeface="Arial" pitchFamily="34" charset="0"/>
                <a:ea typeface="Arial" pitchFamily="34" charset="-122"/>
                <a:cs typeface="Arial" pitchFamily="34" charset="-120"/>
              </a:rPr>
              <a:t>TRY IT</a:t>
            </a:r>
            <a:endParaRPr lang="en-US" sz="1200" dirty="0"/>
          </a:p>
        </p:txBody>
      </p:sp>
      <p:sp>
        <p:nvSpPr>
          <p:cNvPr id="4" name="Text 2"/>
          <p:cNvSpPr/>
          <p:nvPr/>
        </p:nvSpPr>
        <p:spPr>
          <a:xfrm>
            <a:off x="640080" y="777240"/>
            <a:ext cx="10789920" cy="731520"/>
          </a:xfrm>
          <a:prstGeom prst="rect">
            <a:avLst/>
          </a:prstGeom>
          <a:noFill/>
          <a:ln/>
        </p:spPr>
        <p:txBody>
          <a:bodyPr wrap="square" lIns="0" tIns="0" rIns="0" bIns="0" rtlCol="0" anchor="ctr"/>
          <a:lstStyle/>
          <a:p>
            <a:pPr indent="0" marL="0">
              <a:buNone/>
            </a:pPr>
            <a:r>
              <a:rPr lang="en-US" sz="2900" b="1" dirty="0">
                <a:solidFill>
                  <a:srgbClr val="0F172A"/>
                </a:solidFill>
                <a:latin typeface="Arial" pitchFamily="34" charset="0"/>
                <a:ea typeface="Arial" pitchFamily="34" charset="-122"/>
                <a:cs typeface="Arial" pitchFamily="34" charset="-120"/>
              </a:rPr>
              <a:t>Have a go yourself</a:t>
            </a:r>
            <a:endParaRPr lang="en-US" sz="2900" dirty="0"/>
          </a:p>
        </p:txBody>
      </p:sp>
      <p:sp>
        <p:nvSpPr>
          <p:cNvPr id="5" name="Shape 3"/>
          <p:cNvSpPr/>
          <p:nvPr/>
        </p:nvSpPr>
        <p:spPr>
          <a:xfrm>
            <a:off x="640080" y="2011680"/>
            <a:ext cx="10927080" cy="2194560"/>
          </a:xfrm>
          <a:prstGeom prst="rect">
            <a:avLst/>
          </a:prstGeom>
          <a:solidFill>
            <a:srgbClr val="EAEFF5"/>
          </a:solidFill>
          <a:ln/>
        </p:spPr>
      </p:sp>
      <p:sp>
        <p:nvSpPr>
          <p:cNvPr id="6" name="Shape 4"/>
          <p:cNvSpPr/>
          <p:nvPr/>
        </p:nvSpPr>
        <p:spPr>
          <a:xfrm>
            <a:off x="640080" y="2011680"/>
            <a:ext cx="109728" cy="2194560"/>
          </a:xfrm>
          <a:prstGeom prst="rect">
            <a:avLst/>
          </a:prstGeom>
          <a:solidFill>
            <a:srgbClr val="2E5077"/>
          </a:solidFill>
          <a:ln/>
        </p:spPr>
      </p:sp>
      <p:sp>
        <p:nvSpPr>
          <p:cNvPr id="7" name="Text 5"/>
          <p:cNvSpPr/>
          <p:nvPr/>
        </p:nvSpPr>
        <p:spPr>
          <a:xfrm>
            <a:off x="1097280" y="2286000"/>
            <a:ext cx="10058400" cy="1645920"/>
          </a:xfrm>
          <a:prstGeom prst="rect">
            <a:avLst/>
          </a:prstGeom>
          <a:noFill/>
          <a:ln/>
        </p:spPr>
        <p:txBody>
          <a:bodyPr wrap="square" lIns="0" tIns="0" rIns="0" bIns="0" rtlCol="0" anchor="t"/>
          <a:lstStyle/>
          <a:p>
            <a:pPr indent="0" marL="0">
              <a:buNone/>
            </a:pPr>
            <a:r>
              <a:rPr lang="en-US" sz="1700" dirty="0">
                <a:solidFill>
                  <a:srgbClr val="0F172A"/>
                </a:solidFill>
                <a:latin typeface="Arial" pitchFamily="34" charset="0"/>
                <a:ea typeface="Arial" pitchFamily="34" charset="-122"/>
                <a:cs typeface="Arial" pitchFamily="34" charset="-120"/>
              </a:rPr>
              <a:t>Pick a ticket whose PR you have already merged, run "review EUDPA-XXXX", open review-index.md, then "walk review EUDPA-XXXX" and rattle through a few findings with F / W / D to feel the triage loop.</a:t>
            </a:r>
            <a:endParaRPr lang="en-US" sz="1700" dirty="0"/>
          </a:p>
        </p:txBody>
      </p:sp>
      <p:sp>
        <p:nvSpPr>
          <p:cNvPr id="8" name="Text 6"/>
          <p:cNvSpPr/>
          <p:nvPr/>
        </p:nvSpPr>
        <p:spPr>
          <a:xfrm>
            <a:off x="640080" y="6217920"/>
            <a:ext cx="10515600" cy="365760"/>
          </a:xfrm>
          <a:prstGeom prst="rect">
            <a:avLst/>
          </a:prstGeom>
          <a:noFill/>
          <a:ln/>
        </p:spPr>
        <p:txBody>
          <a:bodyPr wrap="square" lIns="0" tIns="0" rIns="0" bIns="0" rtlCol="0" anchor="ctr"/>
          <a:lstStyle/>
          <a:p>
            <a:pPr indent="0" marL="0">
              <a:buNone/>
            </a:pPr>
            <a:r>
              <a:rPr lang="en-US" sz="1400" b="1" dirty="0">
                <a:solidFill>
                  <a:srgbClr val="22405F"/>
                </a:solidFill>
                <a:latin typeface="Arial" pitchFamily="34" charset="0"/>
                <a:ea typeface="Arial" pitchFamily="34" charset="-122"/>
                <a:cs typeface="Arial" pitchFamily="34" charset="-120"/>
              </a:rPr>
              <a:t>Next: Session 4 — the code-style skill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3 — review</dc:title>
  <dc:subject>PptxGenJS Presentation</dc:subject>
  <dc:creator>PptxGenJS</dc:creator>
  <cp:lastModifiedBy>PptxGenJS</cp:lastModifiedBy>
  <cp:revision>1</cp:revision>
  <dcterms:created xsi:type="dcterms:W3CDTF">2026-06-29T08:17:57Z</dcterms:created>
  <dcterms:modified xsi:type="dcterms:W3CDTF">2026-06-29T08:17:57Z</dcterms:modified>
</cp:coreProperties>
</file>