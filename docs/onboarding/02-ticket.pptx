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411480" cy="6858000"/>
          </a:xfrm>
          <a:prstGeom prst="rect">
            <a:avLst/>
          </a:prstGeom>
          <a:solidFill>
            <a:srgbClr val="2E5077"/>
          </a:solidFill>
          <a:ln/>
        </p:spPr>
      </p:sp>
      <p:sp>
        <p:nvSpPr>
          <p:cNvPr id="3" name="Text 1"/>
          <p:cNvSpPr/>
          <p:nvPr/>
        </p:nvSpPr>
        <p:spPr>
          <a:xfrm>
            <a:off x="1005840" y="1417320"/>
            <a:ext cx="9144000" cy="365760"/>
          </a:xfrm>
          <a:prstGeom prst="rect">
            <a:avLst/>
          </a:prstGeom>
          <a:noFill/>
          <a:ln/>
        </p:spPr>
        <p:txBody>
          <a:bodyPr wrap="square" lIns="0" tIns="0" rIns="0" bIns="0" rtlCol="0" anchor="ctr"/>
          <a:lstStyle/>
          <a:p>
            <a:pPr indent="0" marL="0">
              <a:buNone/>
            </a:pPr>
            <a:r>
              <a:rPr lang="en-US" sz="1400" b="1" spc="300" kern="0" dirty="0">
                <a:solidFill>
                  <a:srgbClr val="2E5077"/>
                </a:solidFill>
                <a:latin typeface="Arial" pitchFamily="34" charset="0"/>
                <a:ea typeface="Arial" pitchFamily="34" charset="-122"/>
                <a:cs typeface="Arial" pitchFamily="34" charset="-120"/>
              </a:rPr>
              <a:t>TRADE-IMPORTS-ANIMALS ONBOARDING</a:t>
            </a:r>
            <a:endParaRPr lang="en-US" sz="1400" dirty="0"/>
          </a:p>
        </p:txBody>
      </p:sp>
      <p:sp>
        <p:nvSpPr>
          <p:cNvPr id="4" name="Text 2"/>
          <p:cNvSpPr/>
          <p:nvPr/>
        </p:nvSpPr>
        <p:spPr>
          <a:xfrm>
            <a:off x="960120" y="1874520"/>
            <a:ext cx="10058400" cy="640080"/>
          </a:xfrm>
          <a:prstGeom prst="rect">
            <a:avLst/>
          </a:prstGeom>
          <a:noFill/>
          <a:ln/>
        </p:spPr>
        <p:txBody>
          <a:bodyPr wrap="square" lIns="0" tIns="0" rIns="0" bIns="0" rtlCol="0" anchor="ctr"/>
          <a:lstStyle/>
          <a:p>
            <a:pPr indent="0" marL="0">
              <a:buNone/>
            </a:pPr>
            <a:r>
              <a:rPr lang="en-US" sz="2400" b="1" dirty="0">
                <a:solidFill>
                  <a:srgbClr val="64748B"/>
                </a:solidFill>
                <a:latin typeface="Arial" pitchFamily="34" charset="0"/>
                <a:ea typeface="Arial" pitchFamily="34" charset="-122"/>
                <a:cs typeface="Arial" pitchFamily="34" charset="-120"/>
              </a:rPr>
              <a:t>Session 2</a:t>
            </a:r>
            <a:endParaRPr lang="en-US" sz="2400" dirty="0"/>
          </a:p>
        </p:txBody>
      </p:sp>
      <p:sp>
        <p:nvSpPr>
          <p:cNvPr id="5" name="Text 3"/>
          <p:cNvSpPr/>
          <p:nvPr/>
        </p:nvSpPr>
        <p:spPr>
          <a:xfrm>
            <a:off x="914400" y="2468880"/>
            <a:ext cx="10607040" cy="1097280"/>
          </a:xfrm>
          <a:prstGeom prst="rect">
            <a:avLst/>
          </a:prstGeom>
          <a:noFill/>
          <a:ln/>
        </p:spPr>
        <p:txBody>
          <a:bodyPr wrap="square" lIns="0" tIns="0" rIns="0" bIns="0" rtlCol="0" anchor="ctr"/>
          <a:lstStyle/>
          <a:p>
            <a:pPr indent="0" marL="0">
              <a:buNone/>
            </a:pPr>
            <a:r>
              <a:rPr lang="en-US" sz="5200" b="1" dirty="0">
                <a:solidFill>
                  <a:srgbClr val="22405F"/>
                </a:solidFill>
                <a:latin typeface="Courier New" pitchFamily="34" charset="0"/>
                <a:ea typeface="Courier New" pitchFamily="34" charset="-122"/>
                <a:cs typeface="Courier New" pitchFamily="34" charset="-120"/>
              </a:rPr>
              <a:t>ticket</a:t>
            </a:r>
            <a:endParaRPr lang="en-US" sz="5200" dirty="0"/>
          </a:p>
        </p:txBody>
      </p:sp>
      <p:sp>
        <p:nvSpPr>
          <p:cNvPr id="6" name="Text 4"/>
          <p:cNvSpPr/>
          <p:nvPr/>
        </p:nvSpPr>
        <p:spPr>
          <a:xfrm>
            <a:off x="960120" y="4114800"/>
            <a:ext cx="9875520" cy="1097280"/>
          </a:xfrm>
          <a:prstGeom prst="rect">
            <a:avLst/>
          </a:prstGeom>
          <a:noFill/>
          <a:ln/>
        </p:spPr>
        <p:txBody>
          <a:bodyPr wrap="square" lIns="0" tIns="0" rIns="0" bIns="0" rtlCol="0" anchor="ctr"/>
          <a:lstStyle/>
          <a:p>
            <a:pPr indent="0" marL="0">
              <a:buNone/>
            </a:pPr>
            <a:r>
              <a:rPr lang="en-US" sz="1800" i="1" dirty="0">
                <a:solidFill>
                  <a:srgbClr val="0F172A"/>
                </a:solidFill>
                <a:latin typeface="Arial" pitchFamily="34" charset="0"/>
                <a:ea typeface="Arial" pitchFamily="34" charset="-122"/>
                <a:cs typeface="Arial" pitchFamily="34" charset="-120"/>
              </a:rPr>
              <a:t>Take one existing EUDPA ticket through plan, implement and refactor — in the workspace.</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256032" cy="6858000"/>
          </a:xfrm>
          <a:prstGeom prst="rect">
            <a:avLst/>
          </a:prstGeom>
          <a:solidFill>
            <a:srgbClr val="2E5077"/>
          </a:solidFill>
          <a:ln/>
        </p:spPr>
      </p:sp>
      <p:sp>
        <p:nvSpPr>
          <p:cNvPr id="3" name="Text 1"/>
          <p:cNvSpPr/>
          <p:nvPr/>
        </p:nvSpPr>
        <p:spPr>
          <a:xfrm>
            <a:off x="640080" y="502920"/>
            <a:ext cx="10789920" cy="274320"/>
          </a:xfrm>
          <a:prstGeom prst="rect">
            <a:avLst/>
          </a:prstGeom>
          <a:noFill/>
          <a:ln/>
        </p:spPr>
        <p:txBody>
          <a:bodyPr wrap="square" lIns="0" tIns="0" rIns="0" bIns="0" rtlCol="0" anchor="ctr"/>
          <a:lstStyle/>
          <a:p>
            <a:pPr indent="0" marL="0">
              <a:buNone/>
            </a:pPr>
            <a:r>
              <a:rPr lang="en-US" sz="1200" b="1" spc="200" kern="0" dirty="0">
                <a:solidFill>
                  <a:srgbClr val="2E5077"/>
                </a:solidFill>
                <a:latin typeface="Arial" pitchFamily="34" charset="0"/>
                <a:ea typeface="Arial" pitchFamily="34" charset="-122"/>
                <a:cs typeface="Arial" pitchFamily="34" charset="-120"/>
              </a:rPr>
              <a:t>WHAT IT'S FOR</a:t>
            </a:r>
            <a:endParaRPr lang="en-US" sz="1200" dirty="0"/>
          </a:p>
        </p:txBody>
      </p:sp>
      <p:sp>
        <p:nvSpPr>
          <p:cNvPr id="4" name="Text 2"/>
          <p:cNvSpPr/>
          <p:nvPr/>
        </p:nvSpPr>
        <p:spPr>
          <a:xfrm>
            <a:off x="640080" y="777240"/>
            <a:ext cx="10789920" cy="731520"/>
          </a:xfrm>
          <a:prstGeom prst="rect">
            <a:avLst/>
          </a:prstGeom>
          <a:noFill/>
          <a:ln/>
        </p:spPr>
        <p:txBody>
          <a:bodyPr wrap="square" lIns="0" tIns="0" rIns="0" bIns="0" rtlCol="0" anchor="ctr"/>
          <a:lstStyle/>
          <a:p>
            <a:pPr indent="0" marL="0">
              <a:buNone/>
            </a:pPr>
            <a:r>
              <a:rPr lang="en-US" sz="2900" b="1" dirty="0">
                <a:solidFill>
                  <a:srgbClr val="0F172A"/>
                </a:solidFill>
                <a:latin typeface="Arial" pitchFamily="34" charset="0"/>
                <a:ea typeface="Arial" pitchFamily="34" charset="-122"/>
                <a:cs typeface="Arial" pitchFamily="34" charset="-120"/>
              </a:rPr>
              <a:t>Plan, implement, refactor — one ticket</a:t>
            </a:r>
            <a:endParaRPr lang="en-US" sz="2900" dirty="0"/>
          </a:p>
        </p:txBody>
      </p:sp>
      <p:sp>
        <p:nvSpPr>
          <p:cNvPr id="5" name="Text 3"/>
          <p:cNvSpPr/>
          <p:nvPr/>
        </p:nvSpPr>
        <p:spPr>
          <a:xfrm>
            <a:off x="640080" y="1554480"/>
            <a:ext cx="10789920" cy="2377440"/>
          </a:xfrm>
          <a:prstGeom prst="rect">
            <a:avLst/>
          </a:prstGeom>
          <a:noFill/>
          <a:ln/>
        </p:spPr>
        <p:txBody>
          <a:bodyPr wrap="square" lIns="0" tIns="0" rIns="0" bIns="0" rtlCol="0" anchor="t"/>
          <a:lstStyle/>
          <a:p>
            <a:pPr indent="0" marL="0">
              <a:spcAft>
                <a:spcPts val="1200"/>
              </a:spcAft>
              <a:buNone/>
            </a:pPr>
            <a:r>
              <a:rPr lang="en-US" sz="1550" dirty="0">
                <a:solidFill>
                  <a:srgbClr val="0F172A"/>
                </a:solidFill>
                <a:latin typeface="Arial" pitchFamily="34" charset="0"/>
                <a:ea typeface="Arial" pitchFamily="34" charset="-122"/>
                <a:cs typeface="Arial" pitchFamily="34" charset="-120"/>
              </a:rPr>
              <a:t>A ticket rarely lives in one repo. Before you write a line you're piecing together its Jira description and comments, any Confluence design notes, which of the eight repos and which stacks it touches, and the conventions each repo expects. That context-gathering is slow, easy to get wrong, and different every time.</a:t>
            </a:r>
            <a:endParaRPr lang="en-US" sz="1550" dirty="0"/>
          </a:p>
          <a:p>
            <a:pPr indent="0" marL="0">
              <a:spcAft>
                <a:spcPts val="1200"/>
              </a:spcAft>
              <a:buNone/>
            </a:pPr>
            <a:r>
              <a:rPr lang="en-US" sz="1550" dirty="0">
                <a:solidFill>
                  <a:srgbClr val="0F172A"/>
                </a:solidFill>
                <a:latin typeface="Arial" pitchFamily="34" charset="0"/>
                <a:ea typeface="Arial" pitchFamily="34" charset="-122"/>
                <a:cs typeface="Arial" pitchFamily="34" charset="-120"/>
              </a:rPr>
              <a:t>The ticket skill does that legwork and turns it into a written plan you can challenge before any code exists — then implements against the plan, repo by repo, keeping the tests green the whole way. You stay the decision-maker; it removes the grind around the decisions.</a:t>
            </a:r>
            <a:endParaRPr lang="en-US" sz="1550" dirty="0"/>
          </a:p>
        </p:txBody>
      </p:sp>
      <p:sp>
        <p:nvSpPr>
          <p:cNvPr id="6" name="Text 4"/>
          <p:cNvSpPr/>
          <p:nvPr/>
        </p:nvSpPr>
        <p:spPr>
          <a:xfrm>
            <a:off x="640080" y="4114800"/>
            <a:ext cx="10789920" cy="274320"/>
          </a:xfrm>
          <a:prstGeom prst="rect">
            <a:avLst/>
          </a:prstGeom>
          <a:noFill/>
          <a:ln/>
        </p:spPr>
        <p:txBody>
          <a:bodyPr wrap="square" lIns="0" tIns="0" rIns="0" bIns="0" rtlCol="0" anchor="ctr"/>
          <a:lstStyle/>
          <a:p>
            <a:pPr indent="0" marL="0">
              <a:buNone/>
            </a:pPr>
            <a:r>
              <a:rPr lang="en-US" sz="1200" b="1" spc="200" kern="0" dirty="0">
                <a:solidFill>
                  <a:srgbClr val="2E5077"/>
                </a:solidFill>
                <a:latin typeface="Arial" pitchFamily="34" charset="0"/>
                <a:ea typeface="Arial" pitchFamily="34" charset="-122"/>
                <a:cs typeface="Arial" pitchFamily="34" charset="-120"/>
              </a:rPr>
              <a:t>WHAT YOU GET</a:t>
            </a:r>
            <a:endParaRPr lang="en-US" sz="1200" dirty="0"/>
          </a:p>
        </p:txBody>
      </p:sp>
      <p:sp>
        <p:nvSpPr>
          <p:cNvPr id="7" name="Shape 5"/>
          <p:cNvSpPr/>
          <p:nvPr/>
        </p:nvSpPr>
        <p:spPr>
          <a:xfrm>
            <a:off x="640080" y="4480560"/>
            <a:ext cx="3459480" cy="1645920"/>
          </a:xfrm>
          <a:prstGeom prst="rect">
            <a:avLst/>
          </a:prstGeom>
          <a:solidFill>
            <a:srgbClr val="F1F5F9"/>
          </a:solidFill>
          <a:ln/>
        </p:spPr>
      </p:sp>
      <p:sp>
        <p:nvSpPr>
          <p:cNvPr id="8" name="Shape 6"/>
          <p:cNvSpPr/>
          <p:nvPr/>
        </p:nvSpPr>
        <p:spPr>
          <a:xfrm>
            <a:off x="640080" y="4480560"/>
            <a:ext cx="3459480" cy="82296"/>
          </a:xfrm>
          <a:prstGeom prst="rect">
            <a:avLst/>
          </a:prstGeom>
          <a:solidFill>
            <a:srgbClr val="2E5077"/>
          </a:solidFill>
          <a:ln/>
        </p:spPr>
      </p:sp>
      <p:sp>
        <p:nvSpPr>
          <p:cNvPr id="9" name="Text 7"/>
          <p:cNvSpPr/>
          <p:nvPr/>
        </p:nvSpPr>
        <p:spPr>
          <a:xfrm>
            <a:off x="868680" y="4736592"/>
            <a:ext cx="3002280" cy="566928"/>
          </a:xfrm>
          <a:prstGeom prst="rect">
            <a:avLst/>
          </a:prstGeom>
          <a:noFill/>
          <a:ln/>
        </p:spPr>
        <p:txBody>
          <a:bodyPr wrap="square" lIns="0" tIns="0" rIns="0" bIns="0" rtlCol="0" anchor="t"/>
          <a:lstStyle/>
          <a:p>
            <a:pPr indent="0" marL="0">
              <a:buNone/>
            </a:pPr>
            <a:r>
              <a:rPr lang="en-US" sz="1450" b="1" dirty="0">
                <a:solidFill>
                  <a:srgbClr val="0F172A"/>
                </a:solidFill>
                <a:latin typeface="Arial" pitchFamily="34" charset="0"/>
                <a:ea typeface="Arial" pitchFamily="34" charset="-122"/>
                <a:cs typeface="Arial" pitchFamily="34" charset="-120"/>
              </a:rPr>
              <a:t>Context, gathered</a:t>
            </a:r>
            <a:endParaRPr lang="en-US" sz="1450" dirty="0"/>
          </a:p>
        </p:txBody>
      </p:sp>
      <p:sp>
        <p:nvSpPr>
          <p:cNvPr id="10" name="Text 8"/>
          <p:cNvSpPr/>
          <p:nvPr/>
        </p:nvSpPr>
        <p:spPr>
          <a:xfrm>
            <a:off x="868680" y="5303520"/>
            <a:ext cx="3002280" cy="731520"/>
          </a:xfrm>
          <a:prstGeom prst="rect">
            <a:avLst/>
          </a:prstGeom>
          <a:noFill/>
          <a:ln/>
        </p:spPr>
        <p:txBody>
          <a:bodyPr wrap="square" lIns="0" tIns="0" rIns="0" bIns="0" rtlCol="0" anchor="t"/>
          <a:lstStyle/>
          <a:p>
            <a:pPr indent="0" marL="0">
              <a:buNone/>
            </a:pPr>
            <a:r>
              <a:rPr lang="en-US" sz="1150" dirty="0">
                <a:solidFill>
                  <a:srgbClr val="64748B"/>
                </a:solidFill>
                <a:latin typeface="Arial" pitchFamily="34" charset="0"/>
                <a:ea typeface="Arial" pitchFamily="34" charset="-122"/>
                <a:cs typeface="Arial" pitchFamily="34" charset="-120"/>
              </a:rPr>
              <a:t>Jira, comments, Confluence and the right best-practices, pulled in for you</a:t>
            </a:r>
            <a:endParaRPr lang="en-US" sz="1150" dirty="0"/>
          </a:p>
        </p:txBody>
      </p:sp>
      <p:sp>
        <p:nvSpPr>
          <p:cNvPr id="11" name="Shape 9"/>
          <p:cNvSpPr/>
          <p:nvPr/>
        </p:nvSpPr>
        <p:spPr>
          <a:xfrm>
            <a:off x="4373880" y="4480560"/>
            <a:ext cx="3459480" cy="1645920"/>
          </a:xfrm>
          <a:prstGeom prst="rect">
            <a:avLst/>
          </a:prstGeom>
          <a:solidFill>
            <a:srgbClr val="F1F5F9"/>
          </a:solidFill>
          <a:ln/>
        </p:spPr>
      </p:sp>
      <p:sp>
        <p:nvSpPr>
          <p:cNvPr id="12" name="Shape 10"/>
          <p:cNvSpPr/>
          <p:nvPr/>
        </p:nvSpPr>
        <p:spPr>
          <a:xfrm>
            <a:off x="4373880" y="4480560"/>
            <a:ext cx="3459480" cy="82296"/>
          </a:xfrm>
          <a:prstGeom prst="rect">
            <a:avLst/>
          </a:prstGeom>
          <a:solidFill>
            <a:srgbClr val="2E5077"/>
          </a:solidFill>
          <a:ln/>
        </p:spPr>
      </p:sp>
      <p:sp>
        <p:nvSpPr>
          <p:cNvPr id="13" name="Text 11"/>
          <p:cNvSpPr/>
          <p:nvPr/>
        </p:nvSpPr>
        <p:spPr>
          <a:xfrm>
            <a:off x="4602480" y="4736592"/>
            <a:ext cx="3002280" cy="566928"/>
          </a:xfrm>
          <a:prstGeom prst="rect">
            <a:avLst/>
          </a:prstGeom>
          <a:noFill/>
          <a:ln/>
        </p:spPr>
        <p:txBody>
          <a:bodyPr wrap="square" lIns="0" tIns="0" rIns="0" bIns="0" rtlCol="0" anchor="t"/>
          <a:lstStyle/>
          <a:p>
            <a:pPr indent="0" marL="0">
              <a:buNone/>
            </a:pPr>
            <a:r>
              <a:rPr lang="en-US" sz="1450" b="1" dirty="0">
                <a:solidFill>
                  <a:srgbClr val="0F172A"/>
                </a:solidFill>
                <a:latin typeface="Arial" pitchFamily="34" charset="0"/>
                <a:ea typeface="Arial" pitchFamily="34" charset="-122"/>
                <a:cs typeface="Arial" pitchFamily="34" charset="-120"/>
              </a:rPr>
              <a:t>A plan you can argue with</a:t>
            </a:r>
            <a:endParaRPr lang="en-US" sz="1450" dirty="0"/>
          </a:p>
        </p:txBody>
      </p:sp>
      <p:sp>
        <p:nvSpPr>
          <p:cNvPr id="14" name="Text 12"/>
          <p:cNvSpPr/>
          <p:nvPr/>
        </p:nvSpPr>
        <p:spPr>
          <a:xfrm>
            <a:off x="4602480" y="5303520"/>
            <a:ext cx="3002280" cy="731520"/>
          </a:xfrm>
          <a:prstGeom prst="rect">
            <a:avLst/>
          </a:prstGeom>
          <a:noFill/>
          <a:ln/>
        </p:spPr>
        <p:txBody>
          <a:bodyPr wrap="square" lIns="0" tIns="0" rIns="0" bIns="0" rtlCol="0" anchor="t"/>
          <a:lstStyle/>
          <a:p>
            <a:pPr indent="0" marL="0">
              <a:buNone/>
            </a:pPr>
            <a:r>
              <a:rPr lang="en-US" sz="1150" dirty="0">
                <a:solidFill>
                  <a:srgbClr val="64748B"/>
                </a:solidFill>
                <a:latin typeface="Arial" pitchFamily="34" charset="0"/>
                <a:ea typeface="Arial" pitchFamily="34" charset="-122"/>
                <a:cs typeface="Arial" pitchFamily="34" charset="-120"/>
              </a:rPr>
              <a:t>decisions surfaced as text before code, not buried in a diff</a:t>
            </a:r>
            <a:endParaRPr lang="en-US" sz="1150" dirty="0"/>
          </a:p>
        </p:txBody>
      </p:sp>
      <p:sp>
        <p:nvSpPr>
          <p:cNvPr id="15" name="Shape 13"/>
          <p:cNvSpPr/>
          <p:nvPr/>
        </p:nvSpPr>
        <p:spPr>
          <a:xfrm>
            <a:off x="8107680" y="4480560"/>
            <a:ext cx="3459480" cy="1645920"/>
          </a:xfrm>
          <a:prstGeom prst="rect">
            <a:avLst/>
          </a:prstGeom>
          <a:solidFill>
            <a:srgbClr val="F1F5F9"/>
          </a:solidFill>
          <a:ln/>
        </p:spPr>
      </p:sp>
      <p:sp>
        <p:nvSpPr>
          <p:cNvPr id="16" name="Shape 14"/>
          <p:cNvSpPr/>
          <p:nvPr/>
        </p:nvSpPr>
        <p:spPr>
          <a:xfrm>
            <a:off x="8107680" y="4480560"/>
            <a:ext cx="3459480" cy="82296"/>
          </a:xfrm>
          <a:prstGeom prst="rect">
            <a:avLst/>
          </a:prstGeom>
          <a:solidFill>
            <a:srgbClr val="2E5077"/>
          </a:solidFill>
          <a:ln/>
        </p:spPr>
      </p:sp>
      <p:sp>
        <p:nvSpPr>
          <p:cNvPr id="17" name="Text 15"/>
          <p:cNvSpPr/>
          <p:nvPr/>
        </p:nvSpPr>
        <p:spPr>
          <a:xfrm>
            <a:off x="8336280" y="4736592"/>
            <a:ext cx="3002280" cy="566928"/>
          </a:xfrm>
          <a:prstGeom prst="rect">
            <a:avLst/>
          </a:prstGeom>
          <a:noFill/>
          <a:ln/>
        </p:spPr>
        <p:txBody>
          <a:bodyPr wrap="square" lIns="0" tIns="0" rIns="0" bIns="0" rtlCol="0" anchor="t"/>
          <a:lstStyle/>
          <a:p>
            <a:pPr indent="0" marL="0">
              <a:buNone/>
            </a:pPr>
            <a:r>
              <a:rPr lang="en-US" sz="1450" b="1" dirty="0">
                <a:solidFill>
                  <a:srgbClr val="0F172A"/>
                </a:solidFill>
                <a:latin typeface="Arial" pitchFamily="34" charset="0"/>
                <a:ea typeface="Arial" pitchFamily="34" charset="-122"/>
                <a:cs typeface="Arial" pitchFamily="34" charset="-120"/>
              </a:rPr>
              <a:t>Green all the way</a:t>
            </a:r>
            <a:endParaRPr lang="en-US" sz="1450" dirty="0"/>
          </a:p>
        </p:txBody>
      </p:sp>
      <p:sp>
        <p:nvSpPr>
          <p:cNvPr id="18" name="Text 16"/>
          <p:cNvSpPr/>
          <p:nvPr/>
        </p:nvSpPr>
        <p:spPr>
          <a:xfrm>
            <a:off x="8336280" y="5303520"/>
            <a:ext cx="3002280" cy="731520"/>
          </a:xfrm>
          <a:prstGeom prst="rect">
            <a:avLst/>
          </a:prstGeom>
          <a:noFill/>
          <a:ln/>
        </p:spPr>
        <p:txBody>
          <a:bodyPr wrap="square" lIns="0" tIns="0" rIns="0" bIns="0" rtlCol="0" anchor="t"/>
          <a:lstStyle/>
          <a:p>
            <a:pPr indent="0" marL="0">
              <a:buNone/>
            </a:pPr>
            <a:r>
              <a:rPr lang="en-US" sz="1150" dirty="0">
                <a:solidFill>
                  <a:srgbClr val="64748B"/>
                </a:solidFill>
                <a:latin typeface="Arial" pitchFamily="34" charset="0"/>
                <a:ea typeface="Arial" pitchFamily="34" charset="-122"/>
                <a:cs typeface="Arial" pitchFamily="34" charset="-120"/>
              </a:rPr>
              <a:t>baseline checked, tests re-run each step, CI driven to green</a:t>
            </a:r>
            <a:endParaRPr lang="en-US" sz="1150" dirty="0"/>
          </a:p>
        </p:txBody>
      </p:sp>
      <p:sp>
        <p:nvSpPr>
          <p:cNvPr id="19" name="Text 17"/>
          <p:cNvSpPr/>
          <p:nvPr/>
        </p:nvSpPr>
        <p:spPr>
          <a:xfrm>
            <a:off x="640080" y="6400800"/>
            <a:ext cx="6400800" cy="274320"/>
          </a:xfrm>
          <a:prstGeom prst="rect">
            <a:avLst/>
          </a:prstGeom>
          <a:noFill/>
          <a:ln/>
        </p:spPr>
        <p:txBody>
          <a:bodyPr wrap="square" rtlCol="0" anchor="ctr"/>
          <a:lstStyle/>
          <a:p>
            <a:pPr indent="0" marL="0">
              <a:buNone/>
            </a:pPr>
            <a:r>
              <a:rPr lang="en-US" sz="900" dirty="0">
                <a:solidFill>
                  <a:srgbClr val="94A3B8"/>
                </a:solidFill>
                <a:latin typeface="Arial" pitchFamily="34" charset="0"/>
                <a:ea typeface="Arial" pitchFamily="34" charset="-122"/>
                <a:cs typeface="Arial" pitchFamily="34" charset="-120"/>
              </a:rPr>
              <a:t>trade-imports-animals onboarding</a:t>
            </a:r>
            <a:endParaRPr lang="en-US" sz="900" dirty="0"/>
          </a:p>
        </p:txBody>
      </p:sp>
      <p:sp>
        <p:nvSpPr>
          <p:cNvPr id="20" name="Text 18"/>
          <p:cNvSpPr/>
          <p:nvPr/>
        </p:nvSpPr>
        <p:spPr>
          <a:xfrm>
            <a:off x="11094415" y="6400800"/>
            <a:ext cx="548640" cy="274320"/>
          </a:xfrm>
          <a:prstGeom prst="rect">
            <a:avLst/>
          </a:prstGeom>
          <a:noFill/>
          <a:ln/>
        </p:spPr>
        <p:txBody>
          <a:bodyPr wrap="square" rtlCol="0" anchor="ctr"/>
          <a:lstStyle/>
          <a:p>
            <a:pPr algn="r" indent="0" marL="0">
              <a:buNone/>
            </a:pPr>
            <a:r>
              <a:rPr lang="en-US" sz="900" dirty="0">
                <a:solidFill>
                  <a:srgbClr val="94A3B8"/>
                </a:solidFill>
                <a:latin typeface="Arial" pitchFamily="34" charset="0"/>
                <a:ea typeface="Arial" pitchFamily="34" charset="-122"/>
                <a:cs typeface="Arial"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256032" cy="6858000"/>
          </a:xfrm>
          <a:prstGeom prst="rect">
            <a:avLst/>
          </a:prstGeom>
          <a:solidFill>
            <a:srgbClr val="2E5077"/>
          </a:solidFill>
          <a:ln/>
        </p:spPr>
      </p:sp>
      <p:sp>
        <p:nvSpPr>
          <p:cNvPr id="3" name="Shape 1"/>
          <p:cNvSpPr/>
          <p:nvPr/>
        </p:nvSpPr>
        <p:spPr>
          <a:xfrm>
            <a:off x="640080" y="502920"/>
            <a:ext cx="1691640" cy="384048"/>
          </a:xfrm>
          <a:prstGeom prst="rect">
            <a:avLst/>
          </a:prstGeom>
          <a:solidFill>
            <a:srgbClr val="2E5077"/>
          </a:solidFill>
          <a:ln/>
        </p:spPr>
      </p:sp>
      <p:sp>
        <p:nvSpPr>
          <p:cNvPr id="4" name="Text 2"/>
          <p:cNvSpPr/>
          <p:nvPr/>
        </p:nvSpPr>
        <p:spPr>
          <a:xfrm>
            <a:off x="640080" y="502920"/>
            <a:ext cx="1691640" cy="384048"/>
          </a:xfrm>
          <a:prstGeom prst="rect">
            <a:avLst/>
          </a:prstGeom>
          <a:noFill/>
          <a:ln/>
        </p:spPr>
        <p:txBody>
          <a:bodyPr wrap="square" lIns="0" tIns="0" rIns="0" bIns="0" rtlCol="0" anchor="ctr"/>
          <a:lstStyle/>
          <a:p>
            <a:pPr algn="ctr" indent="0" marL="0">
              <a:buNone/>
            </a:pPr>
            <a:r>
              <a:rPr lang="en-US" sz="1200" b="1" spc="100" kern="0" dirty="0">
                <a:solidFill>
                  <a:srgbClr val="FFFFFF"/>
                </a:solidFill>
                <a:latin typeface="Arial" pitchFamily="34" charset="0"/>
                <a:ea typeface="Arial" pitchFamily="34" charset="-122"/>
                <a:cs typeface="Arial" pitchFamily="34" charset="-120"/>
              </a:rPr>
              <a:t>LIVE VIEW</a:t>
            </a:r>
            <a:endParaRPr lang="en-US" sz="1200" dirty="0"/>
          </a:p>
        </p:txBody>
      </p:sp>
      <p:sp>
        <p:nvSpPr>
          <p:cNvPr id="5" name="Text 3"/>
          <p:cNvSpPr/>
          <p:nvPr/>
        </p:nvSpPr>
        <p:spPr>
          <a:xfrm>
            <a:off x="640080" y="1005840"/>
            <a:ext cx="10789920" cy="731520"/>
          </a:xfrm>
          <a:prstGeom prst="rect">
            <a:avLst/>
          </a:prstGeom>
          <a:noFill/>
          <a:ln/>
        </p:spPr>
        <p:txBody>
          <a:bodyPr wrap="square" lIns="0" tIns="0" rIns="0" bIns="0" rtlCol="0" anchor="ctr"/>
          <a:lstStyle/>
          <a:p>
            <a:pPr indent="0" marL="0">
              <a:buNone/>
            </a:pPr>
            <a:r>
              <a:rPr lang="en-US" sz="2900" b="1" dirty="0">
                <a:solidFill>
                  <a:srgbClr val="0F172A"/>
                </a:solidFill>
                <a:latin typeface="Arial" pitchFamily="34" charset="0"/>
                <a:ea typeface="Arial" pitchFamily="34" charset="-122"/>
                <a:cs typeface="Arial" pitchFamily="34" charset="-120"/>
              </a:rPr>
              <a:t>Don't memorise — read the current truth</a:t>
            </a:r>
            <a:endParaRPr lang="en-US" sz="2900" dirty="0"/>
          </a:p>
        </p:txBody>
      </p:sp>
      <p:sp>
        <p:nvSpPr>
          <p:cNvPr id="6" name="Shape 4"/>
          <p:cNvSpPr/>
          <p:nvPr/>
        </p:nvSpPr>
        <p:spPr>
          <a:xfrm>
            <a:off x="640080" y="2148840"/>
            <a:ext cx="10927080" cy="914400"/>
          </a:xfrm>
          <a:prstGeom prst="rect">
            <a:avLst/>
          </a:prstGeom>
          <a:solidFill>
            <a:srgbClr val="EAEFF5"/>
          </a:solidFill>
          <a:ln/>
        </p:spPr>
      </p:sp>
      <p:sp>
        <p:nvSpPr>
          <p:cNvPr id="7" name="Shape 5"/>
          <p:cNvSpPr/>
          <p:nvPr/>
        </p:nvSpPr>
        <p:spPr>
          <a:xfrm>
            <a:off x="640080" y="2148840"/>
            <a:ext cx="82296" cy="914400"/>
          </a:xfrm>
          <a:prstGeom prst="rect">
            <a:avLst/>
          </a:prstGeom>
          <a:solidFill>
            <a:srgbClr val="2E5077"/>
          </a:solidFill>
          <a:ln/>
        </p:spPr>
      </p:sp>
      <p:sp>
        <p:nvSpPr>
          <p:cNvPr id="8" name="Text 6"/>
          <p:cNvSpPr/>
          <p:nvPr/>
        </p:nvSpPr>
        <p:spPr>
          <a:xfrm>
            <a:off x="960120" y="2148840"/>
            <a:ext cx="5212080" cy="914400"/>
          </a:xfrm>
          <a:prstGeom prst="rect">
            <a:avLst/>
          </a:prstGeom>
          <a:noFill/>
          <a:ln/>
        </p:spPr>
        <p:txBody>
          <a:bodyPr wrap="square" lIns="0" tIns="0" rIns="0" bIns="0" rtlCol="0" anchor="ctr"/>
          <a:lstStyle/>
          <a:p>
            <a:pPr indent="0" marL="0">
              <a:buNone/>
            </a:pPr>
            <a:r>
              <a:rPr lang="en-US" sz="1400" b="1" dirty="0">
                <a:solidFill>
                  <a:srgbClr val="22405F"/>
                </a:solidFill>
                <a:latin typeface="Courier New" pitchFamily="34" charset="0"/>
                <a:ea typeface="Courier New" pitchFamily="34" charset="-122"/>
                <a:cs typeface="Courier New" pitchFamily="34" charset="-120"/>
              </a:rPr>
              <a:t>plan / implement / refactor EUDPA-X</a:t>
            </a:r>
            <a:endParaRPr lang="en-US" sz="1400" dirty="0"/>
          </a:p>
        </p:txBody>
      </p:sp>
      <p:sp>
        <p:nvSpPr>
          <p:cNvPr id="9" name="Text 7"/>
          <p:cNvSpPr/>
          <p:nvPr/>
        </p:nvSpPr>
        <p:spPr>
          <a:xfrm>
            <a:off x="6355080" y="2148840"/>
            <a:ext cx="4892040" cy="914400"/>
          </a:xfrm>
          <a:prstGeom prst="rect">
            <a:avLst/>
          </a:prstGeom>
          <a:noFill/>
          <a:ln/>
        </p:spPr>
        <p:txBody>
          <a:bodyPr wrap="square" lIns="0" tIns="0" rIns="0" bIns="0" rtlCol="0" anchor="ctr"/>
          <a:lstStyle/>
          <a:p>
            <a:pPr indent="0" marL="0">
              <a:buNone/>
            </a:pPr>
            <a:r>
              <a:rPr lang="en-US" sz="1300" dirty="0">
                <a:solidFill>
                  <a:srgbClr val="64748B"/>
                </a:solidFill>
                <a:latin typeface="Arial" pitchFamily="34" charset="0"/>
                <a:ea typeface="Arial" pitchFamily="34" charset="-122"/>
                <a:cs typeface="Arial" pitchFamily="34" charset="-120"/>
              </a:rPr>
              <a:t>how you launch each phase</a:t>
            </a:r>
            <a:endParaRPr lang="en-US" sz="1300" dirty="0"/>
          </a:p>
        </p:txBody>
      </p:sp>
      <p:sp>
        <p:nvSpPr>
          <p:cNvPr id="10" name="Shape 8"/>
          <p:cNvSpPr/>
          <p:nvPr/>
        </p:nvSpPr>
        <p:spPr>
          <a:xfrm>
            <a:off x="640080" y="3200400"/>
            <a:ext cx="10927080" cy="914400"/>
          </a:xfrm>
          <a:prstGeom prst="rect">
            <a:avLst/>
          </a:prstGeom>
          <a:solidFill>
            <a:srgbClr val="EAEFF5"/>
          </a:solidFill>
          <a:ln/>
        </p:spPr>
      </p:sp>
      <p:sp>
        <p:nvSpPr>
          <p:cNvPr id="11" name="Shape 9"/>
          <p:cNvSpPr/>
          <p:nvPr/>
        </p:nvSpPr>
        <p:spPr>
          <a:xfrm>
            <a:off x="640080" y="3200400"/>
            <a:ext cx="82296" cy="914400"/>
          </a:xfrm>
          <a:prstGeom prst="rect">
            <a:avLst/>
          </a:prstGeom>
          <a:solidFill>
            <a:srgbClr val="2E5077"/>
          </a:solidFill>
          <a:ln/>
        </p:spPr>
      </p:sp>
      <p:sp>
        <p:nvSpPr>
          <p:cNvPr id="12" name="Text 10"/>
          <p:cNvSpPr/>
          <p:nvPr/>
        </p:nvSpPr>
        <p:spPr>
          <a:xfrm>
            <a:off x="960120" y="3200400"/>
            <a:ext cx="5212080" cy="914400"/>
          </a:xfrm>
          <a:prstGeom prst="rect">
            <a:avLst/>
          </a:prstGeom>
          <a:noFill/>
          <a:ln/>
        </p:spPr>
        <p:txBody>
          <a:bodyPr wrap="square" lIns="0" tIns="0" rIns="0" bIns="0" rtlCol="0" anchor="ctr"/>
          <a:lstStyle/>
          <a:p>
            <a:pPr indent="0" marL="0">
              <a:buNone/>
            </a:pPr>
            <a:r>
              <a:rPr lang="en-US" sz="1400" b="1" dirty="0">
                <a:solidFill>
                  <a:srgbClr val="22405F"/>
                </a:solidFill>
                <a:latin typeface="Courier New" pitchFamily="34" charset="0"/>
                <a:ea typeface="Courier New" pitchFamily="34" charset="-122"/>
                <a:cs typeface="Courier New" pitchFamily="34" charset="-120"/>
              </a:rPr>
              <a:t>.claude/skills/ticket/SKILL.md</a:t>
            </a:r>
            <a:endParaRPr lang="en-US" sz="1400" dirty="0"/>
          </a:p>
        </p:txBody>
      </p:sp>
      <p:sp>
        <p:nvSpPr>
          <p:cNvPr id="13" name="Text 11"/>
          <p:cNvSpPr/>
          <p:nvPr/>
        </p:nvSpPr>
        <p:spPr>
          <a:xfrm>
            <a:off x="6355080" y="3200400"/>
            <a:ext cx="4892040" cy="914400"/>
          </a:xfrm>
          <a:prstGeom prst="rect">
            <a:avLst/>
          </a:prstGeom>
          <a:noFill/>
          <a:ln/>
        </p:spPr>
        <p:txBody>
          <a:bodyPr wrap="square" lIns="0" tIns="0" rIns="0" bIns="0" rtlCol="0" anchor="ctr"/>
          <a:lstStyle/>
          <a:p>
            <a:pPr indent="0" marL="0">
              <a:buNone/>
            </a:pPr>
            <a:r>
              <a:rPr lang="en-US" sz="1300" dirty="0">
                <a:solidFill>
                  <a:srgbClr val="64748B"/>
                </a:solidFill>
                <a:latin typeface="Arial" pitchFamily="34" charset="0"/>
                <a:ea typeface="Arial" pitchFamily="34" charset="-122"/>
                <a:cs typeface="Arial" pitchFamily="34" charset="-120"/>
              </a:rPr>
              <a:t>what it does — straight from source</a:t>
            </a:r>
            <a:endParaRPr lang="en-US" sz="1300" dirty="0"/>
          </a:p>
        </p:txBody>
      </p:sp>
      <p:sp>
        <p:nvSpPr>
          <p:cNvPr id="14" name="Shape 12"/>
          <p:cNvSpPr/>
          <p:nvPr/>
        </p:nvSpPr>
        <p:spPr>
          <a:xfrm>
            <a:off x="640080" y="4251960"/>
            <a:ext cx="10927080" cy="914400"/>
          </a:xfrm>
          <a:prstGeom prst="rect">
            <a:avLst/>
          </a:prstGeom>
          <a:solidFill>
            <a:srgbClr val="EAEFF5"/>
          </a:solidFill>
          <a:ln/>
        </p:spPr>
      </p:sp>
      <p:sp>
        <p:nvSpPr>
          <p:cNvPr id="15" name="Shape 13"/>
          <p:cNvSpPr/>
          <p:nvPr/>
        </p:nvSpPr>
        <p:spPr>
          <a:xfrm>
            <a:off x="640080" y="4251960"/>
            <a:ext cx="82296" cy="914400"/>
          </a:xfrm>
          <a:prstGeom prst="rect">
            <a:avLst/>
          </a:prstGeom>
          <a:solidFill>
            <a:srgbClr val="2E5077"/>
          </a:solidFill>
          <a:ln/>
        </p:spPr>
      </p:sp>
      <p:sp>
        <p:nvSpPr>
          <p:cNvPr id="16" name="Text 14"/>
          <p:cNvSpPr/>
          <p:nvPr/>
        </p:nvSpPr>
        <p:spPr>
          <a:xfrm>
            <a:off x="960120" y="4251960"/>
            <a:ext cx="5212080" cy="914400"/>
          </a:xfrm>
          <a:prstGeom prst="rect">
            <a:avLst/>
          </a:prstGeom>
          <a:noFill/>
          <a:ln/>
        </p:spPr>
        <p:txBody>
          <a:bodyPr wrap="square" lIns="0" tIns="0" rIns="0" bIns="0" rtlCol="0" anchor="ctr"/>
          <a:lstStyle/>
          <a:p>
            <a:pPr indent="0" marL="0">
              <a:buNone/>
            </a:pPr>
            <a:r>
              <a:rPr lang="en-US" sz="1400" b="1" dirty="0">
                <a:solidFill>
                  <a:srgbClr val="22405F"/>
                </a:solidFill>
                <a:latin typeface="Courier New" pitchFamily="34" charset="0"/>
                <a:ea typeface="Courier New" pitchFamily="34" charset="-122"/>
                <a:cs typeface="Courier New" pitchFamily="34" charset="-120"/>
              </a:rPr>
              <a:t>workareas/ticket-planning/EUDPA-X/</a:t>
            </a:r>
            <a:endParaRPr lang="en-US" sz="1400" dirty="0"/>
          </a:p>
        </p:txBody>
      </p:sp>
      <p:sp>
        <p:nvSpPr>
          <p:cNvPr id="17" name="Text 15"/>
          <p:cNvSpPr/>
          <p:nvPr/>
        </p:nvSpPr>
        <p:spPr>
          <a:xfrm>
            <a:off x="6355080" y="4251960"/>
            <a:ext cx="4892040" cy="914400"/>
          </a:xfrm>
          <a:prstGeom prst="rect">
            <a:avLst/>
          </a:prstGeom>
          <a:noFill/>
          <a:ln/>
        </p:spPr>
        <p:txBody>
          <a:bodyPr wrap="square" lIns="0" tIns="0" rIns="0" bIns="0" rtlCol="0" anchor="ctr"/>
          <a:lstStyle/>
          <a:p>
            <a:pPr indent="0" marL="0">
              <a:buNone/>
            </a:pPr>
            <a:r>
              <a:rPr lang="en-US" sz="1300" dirty="0">
                <a:solidFill>
                  <a:srgbClr val="64748B"/>
                </a:solidFill>
                <a:latin typeface="Arial" pitchFamily="34" charset="0"/>
                <a:ea typeface="Arial" pitchFamily="34" charset="-122"/>
                <a:cs typeface="Arial" pitchFamily="34" charset="-120"/>
              </a:rPr>
              <a:t>where the plan and context land</a:t>
            </a:r>
            <a:endParaRPr lang="en-US" sz="1300" dirty="0"/>
          </a:p>
        </p:txBody>
      </p:sp>
      <p:sp>
        <p:nvSpPr>
          <p:cNvPr id="18" name="Text 16"/>
          <p:cNvSpPr/>
          <p:nvPr/>
        </p:nvSpPr>
        <p:spPr>
          <a:xfrm>
            <a:off x="640080" y="5349240"/>
            <a:ext cx="10515600" cy="365760"/>
          </a:xfrm>
          <a:prstGeom prst="rect">
            <a:avLst/>
          </a:prstGeom>
          <a:noFill/>
          <a:ln/>
        </p:spPr>
        <p:txBody>
          <a:bodyPr wrap="square" lIns="0" tIns="0" rIns="0" bIns="0" rtlCol="0" anchor="ctr"/>
          <a:lstStyle/>
          <a:p>
            <a:pPr indent="0" marL="0">
              <a:buNone/>
            </a:pPr>
            <a:r>
              <a:rPr lang="en-US" sz="1300" i="1" dirty="0">
                <a:solidFill>
                  <a:srgbClr val="64748B"/>
                </a:solidFill>
                <a:latin typeface="Arial" pitchFamily="34" charset="0"/>
                <a:ea typeface="Arial" pitchFamily="34" charset="-122"/>
                <a:cs typeface="Arial" pitchFamily="34" charset="-120"/>
              </a:rPr>
              <a:t>The SKILL.md is what the agent actually executes — it can't drift from reality.</a:t>
            </a:r>
            <a:endParaRPr lang="en-US" sz="1300" dirty="0"/>
          </a:p>
        </p:txBody>
      </p:sp>
      <p:sp>
        <p:nvSpPr>
          <p:cNvPr id="19" name="Text 17"/>
          <p:cNvSpPr/>
          <p:nvPr/>
        </p:nvSpPr>
        <p:spPr>
          <a:xfrm>
            <a:off x="640080" y="6400800"/>
            <a:ext cx="6400800" cy="274320"/>
          </a:xfrm>
          <a:prstGeom prst="rect">
            <a:avLst/>
          </a:prstGeom>
          <a:noFill/>
          <a:ln/>
        </p:spPr>
        <p:txBody>
          <a:bodyPr wrap="square" rtlCol="0" anchor="ctr"/>
          <a:lstStyle/>
          <a:p>
            <a:pPr indent="0" marL="0">
              <a:buNone/>
            </a:pPr>
            <a:r>
              <a:rPr lang="en-US" sz="900" dirty="0">
                <a:solidFill>
                  <a:srgbClr val="94A3B8"/>
                </a:solidFill>
                <a:latin typeface="Arial" pitchFamily="34" charset="0"/>
                <a:ea typeface="Arial" pitchFamily="34" charset="-122"/>
                <a:cs typeface="Arial" pitchFamily="34" charset="-120"/>
              </a:rPr>
              <a:t>trade-imports-animals onboarding</a:t>
            </a:r>
            <a:endParaRPr lang="en-US" sz="900" dirty="0"/>
          </a:p>
        </p:txBody>
      </p:sp>
      <p:sp>
        <p:nvSpPr>
          <p:cNvPr id="20" name="Text 18"/>
          <p:cNvSpPr/>
          <p:nvPr/>
        </p:nvSpPr>
        <p:spPr>
          <a:xfrm>
            <a:off x="11094415" y="6400800"/>
            <a:ext cx="548640" cy="274320"/>
          </a:xfrm>
          <a:prstGeom prst="rect">
            <a:avLst/>
          </a:prstGeom>
          <a:noFill/>
          <a:ln/>
        </p:spPr>
        <p:txBody>
          <a:bodyPr wrap="square" rtlCol="0" anchor="ctr"/>
          <a:lstStyle/>
          <a:p>
            <a:pPr algn="r" indent="0" marL="0">
              <a:buNone/>
            </a:pPr>
            <a:r>
              <a:rPr lang="en-US" sz="900" dirty="0">
                <a:solidFill>
                  <a:srgbClr val="94A3B8"/>
                </a:solidFill>
                <a:latin typeface="Arial" pitchFamily="34" charset="0"/>
                <a:ea typeface="Arial" pitchFamily="34" charset="-122"/>
                <a:cs typeface="Arial"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256032" cy="6858000"/>
          </a:xfrm>
          <a:prstGeom prst="rect">
            <a:avLst/>
          </a:prstGeom>
          <a:solidFill>
            <a:srgbClr val="2E5077"/>
          </a:solidFill>
          <a:ln/>
        </p:spPr>
      </p:sp>
      <p:sp>
        <p:nvSpPr>
          <p:cNvPr id="3" name="Text 1"/>
          <p:cNvSpPr/>
          <p:nvPr/>
        </p:nvSpPr>
        <p:spPr>
          <a:xfrm>
            <a:off x="640080" y="502920"/>
            <a:ext cx="10789920" cy="274320"/>
          </a:xfrm>
          <a:prstGeom prst="rect">
            <a:avLst/>
          </a:prstGeom>
          <a:noFill/>
          <a:ln/>
        </p:spPr>
        <p:txBody>
          <a:bodyPr wrap="square" lIns="0" tIns="0" rIns="0" bIns="0" rtlCol="0" anchor="ctr"/>
          <a:lstStyle/>
          <a:p>
            <a:pPr indent="0" marL="0">
              <a:buNone/>
            </a:pPr>
            <a:r>
              <a:rPr lang="en-US" sz="1200" b="1" spc="200" kern="0" dirty="0">
                <a:solidFill>
                  <a:srgbClr val="2E5077"/>
                </a:solidFill>
                <a:latin typeface="Arial" pitchFamily="34" charset="0"/>
                <a:ea typeface="Arial" pitchFamily="34" charset="-122"/>
                <a:cs typeface="Arial" pitchFamily="34" charset="-120"/>
              </a:rPr>
              <a:t>WATCH IT RUN</a:t>
            </a:r>
            <a:endParaRPr lang="en-US" sz="1200" dirty="0"/>
          </a:p>
        </p:txBody>
      </p:sp>
      <p:sp>
        <p:nvSpPr>
          <p:cNvPr id="4" name="Text 2"/>
          <p:cNvSpPr/>
          <p:nvPr/>
        </p:nvSpPr>
        <p:spPr>
          <a:xfrm>
            <a:off x="640080" y="777240"/>
            <a:ext cx="10789920" cy="731520"/>
          </a:xfrm>
          <a:prstGeom prst="rect">
            <a:avLst/>
          </a:prstGeom>
          <a:noFill/>
          <a:ln/>
        </p:spPr>
        <p:txBody>
          <a:bodyPr wrap="square" lIns="0" tIns="0" rIns="0" bIns="0" rtlCol="0" anchor="ctr"/>
          <a:lstStyle/>
          <a:p>
            <a:pPr indent="0" marL="0">
              <a:buNone/>
            </a:pPr>
            <a:r>
              <a:rPr lang="en-US" sz="2900" b="1" dirty="0">
                <a:solidFill>
                  <a:srgbClr val="0F172A"/>
                </a:solidFill>
                <a:latin typeface="Arial" pitchFamily="34" charset="0"/>
                <a:ea typeface="Arial" pitchFamily="34" charset="-122"/>
                <a:cs typeface="Arial" pitchFamily="34" charset="-120"/>
              </a:rPr>
              <a:t>ticket end to end</a:t>
            </a:r>
            <a:endParaRPr lang="en-US" sz="2900" dirty="0"/>
          </a:p>
        </p:txBody>
      </p:sp>
      <p:sp>
        <p:nvSpPr>
          <p:cNvPr id="5" name="Text 3"/>
          <p:cNvSpPr/>
          <p:nvPr/>
        </p:nvSpPr>
        <p:spPr>
          <a:xfrm>
            <a:off x="640080" y="1536192"/>
            <a:ext cx="10927080" cy="411480"/>
          </a:xfrm>
          <a:prstGeom prst="rect">
            <a:avLst/>
          </a:prstGeom>
          <a:noFill/>
          <a:ln/>
        </p:spPr>
        <p:txBody>
          <a:bodyPr wrap="square" lIns="0" tIns="0" rIns="0" bIns="0" rtlCol="0" anchor="ctr"/>
          <a:lstStyle/>
          <a:p>
            <a:pPr indent="0" marL="0">
              <a:buNone/>
            </a:pPr>
            <a:r>
              <a:rPr lang="en-US" sz="1250" b="1" dirty="0">
                <a:solidFill>
                  <a:srgbClr val="64748B"/>
                </a:solidFill>
                <a:latin typeface="Arial" pitchFamily="34" charset="0"/>
                <a:ea typeface="Arial" pitchFamily="34" charset="-122"/>
                <a:cs typeface="Arial" pitchFamily="34" charset="-120"/>
              </a:rPr>
              <a:t>Trigger it:  </a:t>
            </a:r>
            <a:pPr indent="0" marL="0">
              <a:buNone/>
            </a:pPr>
            <a:r>
              <a:rPr lang="en-US" sz="1250" dirty="0">
                <a:solidFill>
                  <a:srgbClr val="2E5077"/>
                </a:solidFill>
                <a:latin typeface="Courier New" pitchFamily="34" charset="0"/>
                <a:ea typeface="Courier New" pitchFamily="34" charset="-122"/>
                <a:cs typeface="Courier New" pitchFamily="34" charset="-120"/>
              </a:rPr>
              <a:t>"plan EUDPA-1234" · "implement EUDPA-1234" · "refactor" / "tidy up"</a:t>
            </a:r>
            <a:endParaRPr lang="en-US" sz="1250" dirty="0"/>
          </a:p>
        </p:txBody>
      </p:sp>
      <p:sp>
        <p:nvSpPr>
          <p:cNvPr id="6" name="Shape 4"/>
          <p:cNvSpPr/>
          <p:nvPr/>
        </p:nvSpPr>
        <p:spPr>
          <a:xfrm>
            <a:off x="640080" y="2148840"/>
            <a:ext cx="10927080" cy="738835"/>
          </a:xfrm>
          <a:prstGeom prst="rect">
            <a:avLst/>
          </a:prstGeom>
          <a:solidFill>
            <a:srgbClr val="F1F5F9"/>
          </a:solidFill>
          <a:ln/>
        </p:spPr>
      </p:sp>
      <p:sp>
        <p:nvSpPr>
          <p:cNvPr id="7" name="Shape 5"/>
          <p:cNvSpPr/>
          <p:nvPr/>
        </p:nvSpPr>
        <p:spPr>
          <a:xfrm>
            <a:off x="896112" y="2317090"/>
            <a:ext cx="402336" cy="402336"/>
          </a:xfrm>
          <a:prstGeom prst="ellipse">
            <a:avLst/>
          </a:prstGeom>
          <a:solidFill>
            <a:srgbClr val="2E5077"/>
          </a:solidFill>
          <a:ln/>
        </p:spPr>
      </p:sp>
      <p:sp>
        <p:nvSpPr>
          <p:cNvPr id="8" name="Text 6"/>
          <p:cNvSpPr/>
          <p:nvPr/>
        </p:nvSpPr>
        <p:spPr>
          <a:xfrm>
            <a:off x="896112" y="2317090"/>
            <a:ext cx="402336" cy="402336"/>
          </a:xfrm>
          <a:prstGeom prst="rect">
            <a:avLst/>
          </a:prstGeom>
          <a:noFill/>
          <a:ln/>
        </p:spPr>
        <p:txBody>
          <a:bodyPr wrap="square" lIns="0" tIns="0" rIns="0" bIns="0"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1</a:t>
            </a:r>
            <a:endParaRPr lang="en-US" sz="1700" dirty="0"/>
          </a:p>
        </p:txBody>
      </p:sp>
      <p:sp>
        <p:nvSpPr>
          <p:cNvPr id="9" name="Text 7"/>
          <p:cNvSpPr/>
          <p:nvPr/>
        </p:nvSpPr>
        <p:spPr>
          <a:xfrm>
            <a:off x="1508760" y="2221992"/>
            <a:ext cx="2743200" cy="592531"/>
          </a:xfrm>
          <a:prstGeom prst="rect">
            <a:avLst/>
          </a:prstGeom>
          <a:noFill/>
          <a:ln/>
        </p:spPr>
        <p:txBody>
          <a:bodyPr wrap="square" lIns="0" tIns="0" rIns="0" bIns="0" rtlCol="0" anchor="ctr"/>
          <a:lstStyle/>
          <a:p>
            <a:pPr indent="0" marL="0">
              <a:buNone/>
            </a:pPr>
            <a:r>
              <a:rPr lang="en-US" sz="1450" b="1" dirty="0">
                <a:solidFill>
                  <a:srgbClr val="0F172A"/>
                </a:solidFill>
                <a:latin typeface="Arial" pitchFamily="34" charset="0"/>
                <a:ea typeface="Arial" pitchFamily="34" charset="-122"/>
                <a:cs typeface="Arial" pitchFamily="34" charset="-120"/>
              </a:rPr>
              <a:t>Plan</a:t>
            </a:r>
            <a:endParaRPr lang="en-US" sz="1450" dirty="0"/>
          </a:p>
        </p:txBody>
      </p:sp>
      <p:sp>
        <p:nvSpPr>
          <p:cNvPr id="10" name="Text 8"/>
          <p:cNvSpPr/>
          <p:nvPr/>
        </p:nvSpPr>
        <p:spPr>
          <a:xfrm>
            <a:off x="4343400" y="2221992"/>
            <a:ext cx="7040880" cy="592531"/>
          </a:xfrm>
          <a:prstGeom prst="rect">
            <a:avLst/>
          </a:prstGeom>
          <a:noFill/>
          <a:ln/>
        </p:spPr>
        <p:txBody>
          <a:bodyPr wrap="square" lIns="0" tIns="0" rIns="0" bIns="0" rtlCol="0" anchor="ctr"/>
          <a:lstStyle/>
          <a:p>
            <a:pPr indent="0" marL="0">
              <a:buNone/>
            </a:pPr>
            <a:r>
              <a:rPr lang="en-US" sz="1250" dirty="0">
                <a:solidFill>
                  <a:srgbClr val="64748B"/>
                </a:solidFill>
                <a:latin typeface="Arial" pitchFamily="34" charset="0"/>
                <a:ea typeface="Arial" pitchFamily="34" charset="-122"/>
                <a:cs typeface="Arial" pitchFamily="34" charset="-120"/>
              </a:rPr>
              <a:t>"plan EUDPA-1234" — it reads the ticket, comments and Confluence refs, works out the affected repos and their stacks, and bakes in the matching best-practice guides.</a:t>
            </a:r>
            <a:endParaRPr lang="en-US" sz="1250" dirty="0"/>
          </a:p>
        </p:txBody>
      </p:sp>
      <p:sp>
        <p:nvSpPr>
          <p:cNvPr id="11" name="Shape 9"/>
          <p:cNvSpPr/>
          <p:nvPr/>
        </p:nvSpPr>
        <p:spPr>
          <a:xfrm>
            <a:off x="640080" y="3015691"/>
            <a:ext cx="10927080" cy="738835"/>
          </a:xfrm>
          <a:prstGeom prst="rect">
            <a:avLst/>
          </a:prstGeom>
          <a:solidFill>
            <a:srgbClr val="F1F5F9"/>
          </a:solidFill>
          <a:ln/>
        </p:spPr>
      </p:sp>
      <p:sp>
        <p:nvSpPr>
          <p:cNvPr id="12" name="Shape 10"/>
          <p:cNvSpPr/>
          <p:nvPr/>
        </p:nvSpPr>
        <p:spPr>
          <a:xfrm>
            <a:off x="896112" y="3183941"/>
            <a:ext cx="402336" cy="402336"/>
          </a:xfrm>
          <a:prstGeom prst="ellipse">
            <a:avLst/>
          </a:prstGeom>
          <a:solidFill>
            <a:srgbClr val="2E5077"/>
          </a:solidFill>
          <a:ln/>
        </p:spPr>
      </p:sp>
      <p:sp>
        <p:nvSpPr>
          <p:cNvPr id="13" name="Text 11"/>
          <p:cNvSpPr/>
          <p:nvPr/>
        </p:nvSpPr>
        <p:spPr>
          <a:xfrm>
            <a:off x="896112" y="3183941"/>
            <a:ext cx="402336" cy="402336"/>
          </a:xfrm>
          <a:prstGeom prst="rect">
            <a:avLst/>
          </a:prstGeom>
          <a:noFill/>
          <a:ln/>
        </p:spPr>
        <p:txBody>
          <a:bodyPr wrap="square" lIns="0" tIns="0" rIns="0" bIns="0"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2</a:t>
            </a:r>
            <a:endParaRPr lang="en-US" sz="1700" dirty="0"/>
          </a:p>
        </p:txBody>
      </p:sp>
      <p:sp>
        <p:nvSpPr>
          <p:cNvPr id="14" name="Text 12"/>
          <p:cNvSpPr/>
          <p:nvPr/>
        </p:nvSpPr>
        <p:spPr>
          <a:xfrm>
            <a:off x="1508760" y="3088843"/>
            <a:ext cx="2743200" cy="592531"/>
          </a:xfrm>
          <a:prstGeom prst="rect">
            <a:avLst/>
          </a:prstGeom>
          <a:noFill/>
          <a:ln/>
        </p:spPr>
        <p:txBody>
          <a:bodyPr wrap="square" lIns="0" tIns="0" rIns="0" bIns="0" rtlCol="0" anchor="ctr"/>
          <a:lstStyle/>
          <a:p>
            <a:pPr indent="0" marL="0">
              <a:buNone/>
            </a:pPr>
            <a:r>
              <a:rPr lang="en-US" sz="1450" b="1" dirty="0">
                <a:solidFill>
                  <a:srgbClr val="0F172A"/>
                </a:solidFill>
                <a:latin typeface="Arial" pitchFamily="34" charset="0"/>
                <a:ea typeface="Arial" pitchFamily="34" charset="-122"/>
                <a:cs typeface="Arial" pitchFamily="34" charset="-120"/>
              </a:rPr>
              <a:t>Read &amp; challenge</a:t>
            </a:r>
            <a:endParaRPr lang="en-US" sz="1450" dirty="0"/>
          </a:p>
        </p:txBody>
      </p:sp>
      <p:sp>
        <p:nvSpPr>
          <p:cNvPr id="15" name="Text 13"/>
          <p:cNvSpPr/>
          <p:nvPr/>
        </p:nvSpPr>
        <p:spPr>
          <a:xfrm>
            <a:off x="4343400" y="3088843"/>
            <a:ext cx="7040880" cy="592531"/>
          </a:xfrm>
          <a:prstGeom prst="rect">
            <a:avLst/>
          </a:prstGeom>
          <a:noFill/>
          <a:ln/>
        </p:spPr>
        <p:txBody>
          <a:bodyPr wrap="square" lIns="0" tIns="0" rIns="0" bIns="0" rtlCol="0" anchor="ctr"/>
          <a:lstStyle/>
          <a:p>
            <a:pPr indent="0" marL="0">
              <a:buNone/>
            </a:pPr>
            <a:r>
              <a:rPr lang="en-US" sz="1250" dirty="0">
                <a:solidFill>
                  <a:srgbClr val="64748B"/>
                </a:solidFill>
                <a:latin typeface="Arial" pitchFamily="34" charset="0"/>
                <a:ea typeface="Arial" pitchFamily="34" charset="-122"/>
                <a:cs typeface="Arial" pitchFamily="34" charset="-120"/>
              </a:rPr>
              <a:t>plan.md lays out a summary, a repos/stack table, numbered steps, the testing strategy and risks — with [ASSUMPTION] and [NEEDS VERIFICATION] flags for you to settle.</a:t>
            </a:r>
            <a:endParaRPr lang="en-US" sz="1250" dirty="0"/>
          </a:p>
        </p:txBody>
      </p:sp>
      <p:sp>
        <p:nvSpPr>
          <p:cNvPr id="16" name="Shape 14"/>
          <p:cNvSpPr/>
          <p:nvPr/>
        </p:nvSpPr>
        <p:spPr>
          <a:xfrm>
            <a:off x="640080" y="3882542"/>
            <a:ext cx="10927080" cy="738835"/>
          </a:xfrm>
          <a:prstGeom prst="rect">
            <a:avLst/>
          </a:prstGeom>
          <a:solidFill>
            <a:srgbClr val="F1F5F9"/>
          </a:solidFill>
          <a:ln/>
        </p:spPr>
      </p:sp>
      <p:sp>
        <p:nvSpPr>
          <p:cNvPr id="17" name="Shape 15"/>
          <p:cNvSpPr/>
          <p:nvPr/>
        </p:nvSpPr>
        <p:spPr>
          <a:xfrm>
            <a:off x="896112" y="4050792"/>
            <a:ext cx="402336" cy="402336"/>
          </a:xfrm>
          <a:prstGeom prst="ellipse">
            <a:avLst/>
          </a:prstGeom>
          <a:solidFill>
            <a:srgbClr val="2E5077"/>
          </a:solidFill>
          <a:ln/>
        </p:spPr>
      </p:sp>
      <p:sp>
        <p:nvSpPr>
          <p:cNvPr id="18" name="Text 16"/>
          <p:cNvSpPr/>
          <p:nvPr/>
        </p:nvSpPr>
        <p:spPr>
          <a:xfrm>
            <a:off x="896112" y="4050792"/>
            <a:ext cx="402336" cy="402336"/>
          </a:xfrm>
          <a:prstGeom prst="rect">
            <a:avLst/>
          </a:prstGeom>
          <a:noFill/>
          <a:ln/>
        </p:spPr>
        <p:txBody>
          <a:bodyPr wrap="square" lIns="0" tIns="0" rIns="0" bIns="0"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3</a:t>
            </a:r>
            <a:endParaRPr lang="en-US" sz="1700" dirty="0"/>
          </a:p>
        </p:txBody>
      </p:sp>
      <p:sp>
        <p:nvSpPr>
          <p:cNvPr id="19" name="Text 17"/>
          <p:cNvSpPr/>
          <p:nvPr/>
        </p:nvSpPr>
        <p:spPr>
          <a:xfrm>
            <a:off x="1508760" y="3955694"/>
            <a:ext cx="2743200" cy="592531"/>
          </a:xfrm>
          <a:prstGeom prst="rect">
            <a:avLst/>
          </a:prstGeom>
          <a:noFill/>
          <a:ln/>
        </p:spPr>
        <p:txBody>
          <a:bodyPr wrap="square" lIns="0" tIns="0" rIns="0" bIns="0" rtlCol="0" anchor="ctr"/>
          <a:lstStyle/>
          <a:p>
            <a:pPr indent="0" marL="0">
              <a:buNone/>
            </a:pPr>
            <a:r>
              <a:rPr lang="en-US" sz="1450" b="1" dirty="0">
                <a:solidFill>
                  <a:srgbClr val="0F172A"/>
                </a:solidFill>
                <a:latin typeface="Arial" pitchFamily="34" charset="0"/>
                <a:ea typeface="Arial" pitchFamily="34" charset="-122"/>
                <a:cs typeface="Arial" pitchFamily="34" charset="-120"/>
              </a:rPr>
              <a:t>Implement</a:t>
            </a:r>
            <a:endParaRPr lang="en-US" sz="1450" dirty="0"/>
          </a:p>
        </p:txBody>
      </p:sp>
      <p:sp>
        <p:nvSpPr>
          <p:cNvPr id="20" name="Text 18"/>
          <p:cNvSpPr/>
          <p:nvPr/>
        </p:nvSpPr>
        <p:spPr>
          <a:xfrm>
            <a:off x="4343400" y="3955694"/>
            <a:ext cx="7040880" cy="592531"/>
          </a:xfrm>
          <a:prstGeom prst="rect">
            <a:avLst/>
          </a:prstGeom>
          <a:noFill/>
          <a:ln/>
        </p:spPr>
        <p:txBody>
          <a:bodyPr wrap="square" lIns="0" tIns="0" rIns="0" bIns="0" rtlCol="0" anchor="ctr"/>
          <a:lstStyle/>
          <a:p>
            <a:pPr indent="0" marL="0">
              <a:buNone/>
            </a:pPr>
            <a:r>
              <a:rPr lang="en-US" sz="1250" dirty="0">
                <a:solidFill>
                  <a:srgbClr val="64748B"/>
                </a:solidFill>
                <a:latin typeface="Arial" pitchFamily="34" charset="0"/>
                <a:ea typeface="Arial" pitchFamily="34" charset="-122"/>
                <a:cs typeface="Arial" pitchFamily="34" charset="-120"/>
              </a:rPr>
              <a:t>"implement EUDPA-1234" — it confirms the baseline tests pass, cuts a feature branch per repo, then works the plan step by step: smallest change, re-run tests, add tests.</a:t>
            </a:r>
            <a:endParaRPr lang="en-US" sz="1250" dirty="0"/>
          </a:p>
        </p:txBody>
      </p:sp>
      <p:sp>
        <p:nvSpPr>
          <p:cNvPr id="21" name="Shape 19"/>
          <p:cNvSpPr/>
          <p:nvPr/>
        </p:nvSpPr>
        <p:spPr>
          <a:xfrm>
            <a:off x="640080" y="4749394"/>
            <a:ext cx="10927080" cy="738835"/>
          </a:xfrm>
          <a:prstGeom prst="rect">
            <a:avLst/>
          </a:prstGeom>
          <a:solidFill>
            <a:srgbClr val="F1F5F9"/>
          </a:solidFill>
          <a:ln/>
        </p:spPr>
      </p:sp>
      <p:sp>
        <p:nvSpPr>
          <p:cNvPr id="22" name="Shape 20"/>
          <p:cNvSpPr/>
          <p:nvPr/>
        </p:nvSpPr>
        <p:spPr>
          <a:xfrm>
            <a:off x="896112" y="4917643"/>
            <a:ext cx="402336" cy="402336"/>
          </a:xfrm>
          <a:prstGeom prst="ellipse">
            <a:avLst/>
          </a:prstGeom>
          <a:solidFill>
            <a:srgbClr val="2E5077"/>
          </a:solidFill>
          <a:ln/>
        </p:spPr>
      </p:sp>
      <p:sp>
        <p:nvSpPr>
          <p:cNvPr id="23" name="Text 21"/>
          <p:cNvSpPr/>
          <p:nvPr/>
        </p:nvSpPr>
        <p:spPr>
          <a:xfrm>
            <a:off x="896112" y="4917643"/>
            <a:ext cx="402336" cy="402336"/>
          </a:xfrm>
          <a:prstGeom prst="rect">
            <a:avLst/>
          </a:prstGeom>
          <a:noFill/>
          <a:ln/>
        </p:spPr>
        <p:txBody>
          <a:bodyPr wrap="square" lIns="0" tIns="0" rIns="0" bIns="0"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4</a:t>
            </a:r>
            <a:endParaRPr lang="en-US" sz="1700" dirty="0"/>
          </a:p>
        </p:txBody>
      </p:sp>
      <p:sp>
        <p:nvSpPr>
          <p:cNvPr id="24" name="Text 22"/>
          <p:cNvSpPr/>
          <p:nvPr/>
        </p:nvSpPr>
        <p:spPr>
          <a:xfrm>
            <a:off x="1508760" y="4822546"/>
            <a:ext cx="2743200" cy="592531"/>
          </a:xfrm>
          <a:prstGeom prst="rect">
            <a:avLst/>
          </a:prstGeom>
          <a:noFill/>
          <a:ln/>
        </p:spPr>
        <p:txBody>
          <a:bodyPr wrap="square" lIns="0" tIns="0" rIns="0" bIns="0" rtlCol="0" anchor="ctr"/>
          <a:lstStyle/>
          <a:p>
            <a:pPr indent="0" marL="0">
              <a:buNone/>
            </a:pPr>
            <a:r>
              <a:rPr lang="en-US" sz="1450" b="1" dirty="0">
                <a:solidFill>
                  <a:srgbClr val="0F172A"/>
                </a:solidFill>
                <a:latin typeface="Arial" pitchFamily="34" charset="0"/>
                <a:ea typeface="Arial" pitchFamily="34" charset="-122"/>
                <a:cs typeface="Arial" pitchFamily="34" charset="-120"/>
              </a:rPr>
              <a:t>Stay in control</a:t>
            </a:r>
            <a:endParaRPr lang="en-US" sz="1450" dirty="0"/>
          </a:p>
        </p:txBody>
      </p:sp>
      <p:sp>
        <p:nvSpPr>
          <p:cNvPr id="25" name="Text 23"/>
          <p:cNvSpPr/>
          <p:nvPr/>
        </p:nvSpPr>
        <p:spPr>
          <a:xfrm>
            <a:off x="4343400" y="4822546"/>
            <a:ext cx="7040880" cy="592531"/>
          </a:xfrm>
          <a:prstGeom prst="rect">
            <a:avLst/>
          </a:prstGeom>
          <a:noFill/>
          <a:ln/>
        </p:spPr>
        <p:txBody>
          <a:bodyPr wrap="square" lIns="0" tIns="0" rIns="0" bIns="0" rtlCol="0" anchor="ctr"/>
          <a:lstStyle/>
          <a:p>
            <a:pPr indent="0" marL="0">
              <a:buNone/>
            </a:pPr>
            <a:r>
              <a:rPr lang="en-US" sz="1250" dirty="0">
                <a:solidFill>
                  <a:srgbClr val="64748B"/>
                </a:solidFill>
                <a:latin typeface="Arial" pitchFamily="34" charset="0"/>
                <a:ea typeface="Arial" pitchFamily="34" charset="-122"/>
                <a:cs typeface="Arial" pitchFamily="34" charset="-120"/>
              </a:rPr>
              <a:t>it follows the plan you approved rather than a free hand, so the change matches what you agreed and nothing wanders off-scope.</a:t>
            </a:r>
            <a:endParaRPr lang="en-US" sz="1250" dirty="0"/>
          </a:p>
        </p:txBody>
      </p:sp>
      <p:sp>
        <p:nvSpPr>
          <p:cNvPr id="26" name="Shape 24"/>
          <p:cNvSpPr/>
          <p:nvPr/>
        </p:nvSpPr>
        <p:spPr>
          <a:xfrm>
            <a:off x="640080" y="5616245"/>
            <a:ext cx="10927080" cy="738835"/>
          </a:xfrm>
          <a:prstGeom prst="rect">
            <a:avLst/>
          </a:prstGeom>
          <a:solidFill>
            <a:srgbClr val="F1F5F9"/>
          </a:solidFill>
          <a:ln/>
        </p:spPr>
      </p:sp>
      <p:sp>
        <p:nvSpPr>
          <p:cNvPr id="27" name="Shape 25"/>
          <p:cNvSpPr/>
          <p:nvPr/>
        </p:nvSpPr>
        <p:spPr>
          <a:xfrm>
            <a:off x="896112" y="5784494"/>
            <a:ext cx="402336" cy="402336"/>
          </a:xfrm>
          <a:prstGeom prst="ellipse">
            <a:avLst/>
          </a:prstGeom>
          <a:solidFill>
            <a:srgbClr val="2E5077"/>
          </a:solidFill>
          <a:ln/>
        </p:spPr>
      </p:sp>
      <p:sp>
        <p:nvSpPr>
          <p:cNvPr id="28" name="Text 26"/>
          <p:cNvSpPr/>
          <p:nvPr/>
        </p:nvSpPr>
        <p:spPr>
          <a:xfrm>
            <a:off x="896112" y="5784494"/>
            <a:ext cx="402336" cy="402336"/>
          </a:xfrm>
          <a:prstGeom prst="rect">
            <a:avLst/>
          </a:prstGeom>
          <a:noFill/>
          <a:ln/>
        </p:spPr>
        <p:txBody>
          <a:bodyPr wrap="square" lIns="0" tIns="0" rIns="0" bIns="0"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5</a:t>
            </a:r>
            <a:endParaRPr lang="en-US" sz="1700" dirty="0"/>
          </a:p>
        </p:txBody>
      </p:sp>
      <p:sp>
        <p:nvSpPr>
          <p:cNvPr id="29" name="Text 27"/>
          <p:cNvSpPr/>
          <p:nvPr/>
        </p:nvSpPr>
        <p:spPr>
          <a:xfrm>
            <a:off x="1508760" y="5689397"/>
            <a:ext cx="2743200" cy="592531"/>
          </a:xfrm>
          <a:prstGeom prst="rect">
            <a:avLst/>
          </a:prstGeom>
          <a:noFill/>
          <a:ln/>
        </p:spPr>
        <p:txBody>
          <a:bodyPr wrap="square" lIns="0" tIns="0" rIns="0" bIns="0" rtlCol="0" anchor="ctr"/>
          <a:lstStyle/>
          <a:p>
            <a:pPr indent="0" marL="0">
              <a:buNone/>
            </a:pPr>
            <a:r>
              <a:rPr lang="en-US" sz="1450" b="1" dirty="0">
                <a:solidFill>
                  <a:srgbClr val="0F172A"/>
                </a:solidFill>
                <a:latin typeface="Arial" pitchFamily="34" charset="0"/>
                <a:ea typeface="Arial" pitchFamily="34" charset="-122"/>
                <a:cs typeface="Arial" pitchFamily="34" charset="-120"/>
              </a:rPr>
              <a:t>Verify &amp; hand off</a:t>
            </a:r>
            <a:endParaRPr lang="en-US" sz="1450" dirty="0"/>
          </a:p>
        </p:txBody>
      </p:sp>
      <p:sp>
        <p:nvSpPr>
          <p:cNvPr id="30" name="Text 28"/>
          <p:cNvSpPr/>
          <p:nvPr/>
        </p:nvSpPr>
        <p:spPr>
          <a:xfrm>
            <a:off x="4343400" y="5689397"/>
            <a:ext cx="7040880" cy="592531"/>
          </a:xfrm>
          <a:prstGeom prst="rect">
            <a:avLst/>
          </a:prstGeom>
          <a:noFill/>
          <a:ln/>
        </p:spPr>
        <p:txBody>
          <a:bodyPr wrap="square" lIns="0" tIns="0" rIns="0" bIns="0" rtlCol="0" anchor="ctr"/>
          <a:lstStyle/>
          <a:p>
            <a:pPr indent="0" marL="0">
              <a:buNone/>
            </a:pPr>
            <a:r>
              <a:rPr lang="en-US" sz="1250" dirty="0">
                <a:solidFill>
                  <a:srgbClr val="64748B"/>
                </a:solidFill>
                <a:latin typeface="Arial" pitchFamily="34" charset="0"/>
                <a:ea typeface="Arial" pitchFamily="34" charset="-122"/>
                <a:cs typeface="Arial" pitchFamily="34" charset="-120"/>
              </a:rPr>
              <a:t>it triggers CI, waits for green, and reports the repos, files and tests it touched — ready for you to open the PR.</a:t>
            </a:r>
            <a:endParaRPr lang="en-US" sz="1250" dirty="0"/>
          </a:p>
        </p:txBody>
      </p:sp>
      <p:sp>
        <p:nvSpPr>
          <p:cNvPr id="31" name="Text 29"/>
          <p:cNvSpPr/>
          <p:nvPr/>
        </p:nvSpPr>
        <p:spPr>
          <a:xfrm>
            <a:off x="640080" y="6400800"/>
            <a:ext cx="6400800" cy="274320"/>
          </a:xfrm>
          <a:prstGeom prst="rect">
            <a:avLst/>
          </a:prstGeom>
          <a:noFill/>
          <a:ln/>
        </p:spPr>
        <p:txBody>
          <a:bodyPr wrap="square" rtlCol="0" anchor="ctr"/>
          <a:lstStyle/>
          <a:p>
            <a:pPr indent="0" marL="0">
              <a:buNone/>
            </a:pPr>
            <a:r>
              <a:rPr lang="en-US" sz="900" dirty="0">
                <a:solidFill>
                  <a:srgbClr val="94A3B8"/>
                </a:solidFill>
                <a:latin typeface="Arial" pitchFamily="34" charset="0"/>
                <a:ea typeface="Arial" pitchFamily="34" charset="-122"/>
                <a:cs typeface="Arial" pitchFamily="34" charset="-120"/>
              </a:rPr>
              <a:t>trade-imports-animals onboarding</a:t>
            </a:r>
            <a:endParaRPr lang="en-US" sz="900" dirty="0"/>
          </a:p>
        </p:txBody>
      </p:sp>
      <p:sp>
        <p:nvSpPr>
          <p:cNvPr id="32" name="Text 30"/>
          <p:cNvSpPr/>
          <p:nvPr/>
        </p:nvSpPr>
        <p:spPr>
          <a:xfrm>
            <a:off x="11094415" y="6400800"/>
            <a:ext cx="548640" cy="274320"/>
          </a:xfrm>
          <a:prstGeom prst="rect">
            <a:avLst/>
          </a:prstGeom>
          <a:noFill/>
          <a:ln/>
        </p:spPr>
        <p:txBody>
          <a:bodyPr wrap="square" rtlCol="0" anchor="ctr"/>
          <a:lstStyle/>
          <a:p>
            <a:pPr algn="r" indent="0" marL="0">
              <a:buNone/>
            </a:pPr>
            <a:r>
              <a:rPr lang="en-US" sz="900" dirty="0">
                <a:solidFill>
                  <a:srgbClr val="94A3B8"/>
                </a:solidFill>
                <a:latin typeface="Arial" pitchFamily="34" charset="0"/>
                <a:ea typeface="Arial" pitchFamily="34" charset="-122"/>
                <a:cs typeface="Arial"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256032" cy="6858000"/>
          </a:xfrm>
          <a:prstGeom prst="rect">
            <a:avLst/>
          </a:prstGeom>
          <a:solidFill>
            <a:srgbClr val="2E5077"/>
          </a:solidFill>
          <a:ln/>
        </p:spPr>
      </p:sp>
      <p:sp>
        <p:nvSpPr>
          <p:cNvPr id="3" name="Text 1"/>
          <p:cNvSpPr/>
          <p:nvPr/>
        </p:nvSpPr>
        <p:spPr>
          <a:xfrm>
            <a:off x="640080" y="502920"/>
            <a:ext cx="10789920" cy="274320"/>
          </a:xfrm>
          <a:prstGeom prst="rect">
            <a:avLst/>
          </a:prstGeom>
          <a:noFill/>
          <a:ln/>
        </p:spPr>
        <p:txBody>
          <a:bodyPr wrap="square" lIns="0" tIns="0" rIns="0" bIns="0" rtlCol="0" anchor="ctr"/>
          <a:lstStyle/>
          <a:p>
            <a:pPr indent="0" marL="0">
              <a:buNone/>
            </a:pPr>
            <a:r>
              <a:rPr lang="en-US" sz="1200" b="1" spc="200" kern="0" dirty="0">
                <a:solidFill>
                  <a:srgbClr val="2E5077"/>
                </a:solidFill>
                <a:latin typeface="Arial" pitchFamily="34" charset="0"/>
                <a:ea typeface="Arial" pitchFamily="34" charset="-122"/>
                <a:cs typeface="Arial" pitchFamily="34" charset="-120"/>
              </a:rPr>
              <a:t>READING THE OUTPUT</a:t>
            </a:r>
            <a:endParaRPr lang="en-US" sz="1200" dirty="0"/>
          </a:p>
        </p:txBody>
      </p:sp>
      <p:sp>
        <p:nvSpPr>
          <p:cNvPr id="4" name="Text 2"/>
          <p:cNvSpPr/>
          <p:nvPr/>
        </p:nvSpPr>
        <p:spPr>
          <a:xfrm>
            <a:off x="640080" y="777240"/>
            <a:ext cx="10789920" cy="731520"/>
          </a:xfrm>
          <a:prstGeom prst="rect">
            <a:avLst/>
          </a:prstGeom>
          <a:noFill/>
          <a:ln/>
        </p:spPr>
        <p:txBody>
          <a:bodyPr wrap="square" lIns="0" tIns="0" rIns="0" bIns="0" rtlCol="0" anchor="ctr"/>
          <a:lstStyle/>
          <a:p>
            <a:pPr indent="0" marL="0">
              <a:buNone/>
            </a:pPr>
            <a:r>
              <a:rPr lang="en-US" sz="2900" b="1" dirty="0">
                <a:solidFill>
                  <a:srgbClr val="0F172A"/>
                </a:solidFill>
                <a:latin typeface="Arial" pitchFamily="34" charset="0"/>
                <a:ea typeface="Arial" pitchFamily="34" charset="-122"/>
                <a:cs typeface="Arial" pitchFamily="34" charset="-120"/>
              </a:rPr>
              <a:t>What it produces</a:t>
            </a:r>
            <a:endParaRPr lang="en-US" sz="2900" dirty="0"/>
          </a:p>
        </p:txBody>
      </p:sp>
      <p:sp>
        <p:nvSpPr>
          <p:cNvPr id="5" name="Text 3"/>
          <p:cNvSpPr/>
          <p:nvPr/>
        </p:nvSpPr>
        <p:spPr>
          <a:xfrm>
            <a:off x="640080" y="1554480"/>
            <a:ext cx="10789920" cy="411480"/>
          </a:xfrm>
          <a:prstGeom prst="rect">
            <a:avLst/>
          </a:prstGeom>
          <a:noFill/>
          <a:ln/>
        </p:spPr>
        <p:txBody>
          <a:bodyPr wrap="square" lIns="0" tIns="0" rIns="0" bIns="0" rtlCol="0" anchor="ctr"/>
          <a:lstStyle/>
          <a:p>
            <a:pPr indent="0" marL="0">
              <a:buNone/>
            </a:pPr>
            <a:r>
              <a:rPr lang="en-US" sz="1500" dirty="0">
                <a:solidFill>
                  <a:srgbClr val="64748B"/>
                </a:solidFill>
                <a:latin typeface="Arial" pitchFamily="34" charset="0"/>
                <a:ea typeface="Arial" pitchFamily="34" charset="-122"/>
                <a:cs typeface="Arial" pitchFamily="34" charset="-120"/>
              </a:rPr>
              <a:t>Everything lands under workareas/ticket-planning/EUDPA-X/ (gitignored).</a:t>
            </a:r>
            <a:endParaRPr lang="en-US" sz="1500" dirty="0"/>
          </a:p>
        </p:txBody>
      </p:sp>
      <p:sp>
        <p:nvSpPr>
          <p:cNvPr id="6" name="Shape 4"/>
          <p:cNvSpPr/>
          <p:nvPr/>
        </p:nvSpPr>
        <p:spPr>
          <a:xfrm>
            <a:off x="640080" y="2148840"/>
            <a:ext cx="10927080" cy="930402"/>
          </a:xfrm>
          <a:prstGeom prst="rect">
            <a:avLst/>
          </a:prstGeom>
          <a:solidFill>
            <a:srgbClr val="F1F5F9"/>
          </a:solidFill>
          <a:ln/>
        </p:spPr>
      </p:sp>
      <p:sp>
        <p:nvSpPr>
          <p:cNvPr id="7" name="Shape 5"/>
          <p:cNvSpPr/>
          <p:nvPr/>
        </p:nvSpPr>
        <p:spPr>
          <a:xfrm>
            <a:off x="640080" y="2148840"/>
            <a:ext cx="82296" cy="930402"/>
          </a:xfrm>
          <a:prstGeom prst="rect">
            <a:avLst/>
          </a:prstGeom>
          <a:solidFill>
            <a:srgbClr val="2E5077"/>
          </a:solidFill>
          <a:ln/>
        </p:spPr>
      </p:sp>
      <p:sp>
        <p:nvSpPr>
          <p:cNvPr id="8" name="Text 6"/>
          <p:cNvSpPr/>
          <p:nvPr/>
        </p:nvSpPr>
        <p:spPr>
          <a:xfrm>
            <a:off x="960120" y="2194560"/>
            <a:ext cx="4206240" cy="838962"/>
          </a:xfrm>
          <a:prstGeom prst="rect">
            <a:avLst/>
          </a:prstGeom>
          <a:noFill/>
          <a:ln/>
        </p:spPr>
        <p:txBody>
          <a:bodyPr wrap="square" lIns="0" tIns="0" rIns="0" bIns="0" rtlCol="0" anchor="ctr"/>
          <a:lstStyle/>
          <a:p>
            <a:pPr indent="0" marL="0">
              <a:buNone/>
            </a:pPr>
            <a:r>
              <a:rPr lang="en-US" sz="1300" b="1" dirty="0">
                <a:solidFill>
                  <a:srgbClr val="2E5077"/>
                </a:solidFill>
                <a:latin typeface="Courier New" pitchFamily="34" charset="0"/>
                <a:ea typeface="Courier New" pitchFamily="34" charset="-122"/>
                <a:cs typeface="Courier New" pitchFamily="34" charset="-120"/>
              </a:rPr>
              <a:t>plan.md</a:t>
            </a:r>
            <a:endParaRPr lang="en-US" sz="1300" dirty="0"/>
          </a:p>
        </p:txBody>
      </p:sp>
      <p:sp>
        <p:nvSpPr>
          <p:cNvPr id="9" name="Text 7"/>
          <p:cNvSpPr/>
          <p:nvPr/>
        </p:nvSpPr>
        <p:spPr>
          <a:xfrm>
            <a:off x="5303520" y="2194560"/>
            <a:ext cx="6035040" cy="838962"/>
          </a:xfrm>
          <a:prstGeom prst="rect">
            <a:avLst/>
          </a:prstGeom>
          <a:noFill/>
          <a:ln/>
        </p:spPr>
        <p:txBody>
          <a:bodyPr wrap="square" lIns="0" tIns="0" rIns="0" bIns="0" rtlCol="0" anchor="ctr"/>
          <a:lstStyle/>
          <a:p>
            <a:pPr indent="0" marL="0">
              <a:buNone/>
            </a:pPr>
            <a:r>
              <a:rPr lang="en-US" sz="1250" dirty="0">
                <a:solidFill>
                  <a:srgbClr val="64748B"/>
                </a:solidFill>
                <a:latin typeface="Arial" pitchFamily="34" charset="0"/>
                <a:ea typeface="Arial" pitchFamily="34" charset="-122"/>
                <a:cs typeface="Arial" pitchFamily="34" charset="-120"/>
              </a:rPr>
              <a:t>the artifact you actually review and amend — steps, risks, assumptions</a:t>
            </a:r>
            <a:endParaRPr lang="en-US" sz="1250" dirty="0"/>
          </a:p>
        </p:txBody>
      </p:sp>
      <p:sp>
        <p:nvSpPr>
          <p:cNvPr id="10" name="Shape 8"/>
          <p:cNvSpPr/>
          <p:nvPr/>
        </p:nvSpPr>
        <p:spPr>
          <a:xfrm>
            <a:off x="640080" y="3225546"/>
            <a:ext cx="10927080" cy="930402"/>
          </a:xfrm>
          <a:prstGeom prst="rect">
            <a:avLst/>
          </a:prstGeom>
          <a:solidFill>
            <a:srgbClr val="F1F5F9"/>
          </a:solidFill>
          <a:ln/>
        </p:spPr>
      </p:sp>
      <p:sp>
        <p:nvSpPr>
          <p:cNvPr id="11" name="Shape 9"/>
          <p:cNvSpPr/>
          <p:nvPr/>
        </p:nvSpPr>
        <p:spPr>
          <a:xfrm>
            <a:off x="640080" y="3225546"/>
            <a:ext cx="82296" cy="930402"/>
          </a:xfrm>
          <a:prstGeom prst="rect">
            <a:avLst/>
          </a:prstGeom>
          <a:solidFill>
            <a:srgbClr val="2E5077"/>
          </a:solidFill>
          <a:ln/>
        </p:spPr>
      </p:sp>
      <p:sp>
        <p:nvSpPr>
          <p:cNvPr id="12" name="Text 10"/>
          <p:cNvSpPr/>
          <p:nvPr/>
        </p:nvSpPr>
        <p:spPr>
          <a:xfrm>
            <a:off x="960120" y="3271266"/>
            <a:ext cx="4206240" cy="838962"/>
          </a:xfrm>
          <a:prstGeom prst="rect">
            <a:avLst/>
          </a:prstGeom>
          <a:noFill/>
          <a:ln/>
        </p:spPr>
        <p:txBody>
          <a:bodyPr wrap="square" lIns="0" tIns="0" rIns="0" bIns="0" rtlCol="0" anchor="ctr"/>
          <a:lstStyle/>
          <a:p>
            <a:pPr indent="0" marL="0">
              <a:buNone/>
            </a:pPr>
            <a:r>
              <a:rPr lang="en-US" sz="1300" b="1" dirty="0">
                <a:solidFill>
                  <a:srgbClr val="2E5077"/>
                </a:solidFill>
                <a:latin typeface="Courier New" pitchFamily="34" charset="0"/>
                <a:ea typeface="Courier New" pitchFamily="34" charset="-122"/>
                <a:cs typeface="Courier New" pitchFamily="34" charset="-120"/>
              </a:rPr>
              <a:t>ticket.md</a:t>
            </a:r>
            <a:endParaRPr lang="en-US" sz="1300" dirty="0"/>
          </a:p>
        </p:txBody>
      </p:sp>
      <p:sp>
        <p:nvSpPr>
          <p:cNvPr id="13" name="Text 11"/>
          <p:cNvSpPr/>
          <p:nvPr/>
        </p:nvSpPr>
        <p:spPr>
          <a:xfrm>
            <a:off x="5303520" y="3271266"/>
            <a:ext cx="6035040" cy="838962"/>
          </a:xfrm>
          <a:prstGeom prst="rect">
            <a:avLst/>
          </a:prstGeom>
          <a:noFill/>
          <a:ln/>
        </p:spPr>
        <p:txBody>
          <a:bodyPr wrap="square" lIns="0" tIns="0" rIns="0" bIns="0" rtlCol="0" anchor="ctr"/>
          <a:lstStyle/>
          <a:p>
            <a:pPr indent="0" marL="0">
              <a:buNone/>
            </a:pPr>
            <a:r>
              <a:rPr lang="en-US" sz="1250" dirty="0">
                <a:solidFill>
                  <a:srgbClr val="64748B"/>
                </a:solidFill>
                <a:latin typeface="Arial" pitchFamily="34" charset="0"/>
                <a:ea typeface="Arial" pitchFamily="34" charset="-122"/>
                <a:cs typeface="Arial" pitchFamily="34" charset="-120"/>
              </a:rPr>
              <a:t>a readable dump of the Jira metadata, description and comments</a:t>
            </a:r>
            <a:endParaRPr lang="en-US" sz="1250" dirty="0"/>
          </a:p>
        </p:txBody>
      </p:sp>
      <p:sp>
        <p:nvSpPr>
          <p:cNvPr id="14" name="Shape 12"/>
          <p:cNvSpPr/>
          <p:nvPr/>
        </p:nvSpPr>
        <p:spPr>
          <a:xfrm>
            <a:off x="640080" y="4302252"/>
            <a:ext cx="10927080" cy="930402"/>
          </a:xfrm>
          <a:prstGeom prst="rect">
            <a:avLst/>
          </a:prstGeom>
          <a:solidFill>
            <a:srgbClr val="F1F5F9"/>
          </a:solidFill>
          <a:ln/>
        </p:spPr>
      </p:sp>
      <p:sp>
        <p:nvSpPr>
          <p:cNvPr id="15" name="Shape 13"/>
          <p:cNvSpPr/>
          <p:nvPr/>
        </p:nvSpPr>
        <p:spPr>
          <a:xfrm>
            <a:off x="640080" y="4302252"/>
            <a:ext cx="82296" cy="930402"/>
          </a:xfrm>
          <a:prstGeom prst="rect">
            <a:avLst/>
          </a:prstGeom>
          <a:solidFill>
            <a:srgbClr val="2E5077"/>
          </a:solidFill>
          <a:ln/>
        </p:spPr>
      </p:sp>
      <p:sp>
        <p:nvSpPr>
          <p:cNvPr id="16" name="Text 14"/>
          <p:cNvSpPr/>
          <p:nvPr/>
        </p:nvSpPr>
        <p:spPr>
          <a:xfrm>
            <a:off x="960120" y="4347972"/>
            <a:ext cx="4206240" cy="838962"/>
          </a:xfrm>
          <a:prstGeom prst="rect">
            <a:avLst/>
          </a:prstGeom>
          <a:noFill/>
          <a:ln/>
        </p:spPr>
        <p:txBody>
          <a:bodyPr wrap="square" lIns="0" tIns="0" rIns="0" bIns="0" rtlCol="0" anchor="ctr"/>
          <a:lstStyle/>
          <a:p>
            <a:pPr indent="0" marL="0">
              <a:buNone/>
            </a:pPr>
            <a:r>
              <a:rPr lang="en-US" sz="1300" b="1" dirty="0">
                <a:solidFill>
                  <a:srgbClr val="2E5077"/>
                </a:solidFill>
                <a:latin typeface="Courier New" pitchFamily="34" charset="0"/>
                <a:ea typeface="Courier New" pitchFamily="34" charset="-122"/>
                <a:cs typeface="Courier New" pitchFamily="34" charset="-120"/>
              </a:rPr>
              <a:t>best-practices/&lt;repo&gt;.md</a:t>
            </a:r>
            <a:endParaRPr lang="en-US" sz="1300" dirty="0"/>
          </a:p>
        </p:txBody>
      </p:sp>
      <p:sp>
        <p:nvSpPr>
          <p:cNvPr id="17" name="Text 15"/>
          <p:cNvSpPr/>
          <p:nvPr/>
        </p:nvSpPr>
        <p:spPr>
          <a:xfrm>
            <a:off x="5303520" y="4347972"/>
            <a:ext cx="6035040" cy="838962"/>
          </a:xfrm>
          <a:prstGeom prst="rect">
            <a:avLst/>
          </a:prstGeom>
          <a:noFill/>
          <a:ln/>
        </p:spPr>
        <p:txBody>
          <a:bodyPr wrap="square" lIns="0" tIns="0" rIns="0" bIns="0" rtlCol="0" anchor="ctr"/>
          <a:lstStyle/>
          <a:p>
            <a:pPr indent="0" marL="0">
              <a:buNone/>
            </a:pPr>
            <a:r>
              <a:rPr lang="en-US" sz="1250" dirty="0">
                <a:solidFill>
                  <a:srgbClr val="64748B"/>
                </a:solidFill>
                <a:latin typeface="Arial" pitchFamily="34" charset="0"/>
                <a:ea typeface="Arial" pitchFamily="34" charset="-122"/>
                <a:cs typeface="Arial" pitchFamily="34" charset="-120"/>
              </a:rPr>
              <a:t>the per-repo guidance it cites while coding</a:t>
            </a:r>
            <a:endParaRPr lang="en-US" sz="1250" dirty="0"/>
          </a:p>
        </p:txBody>
      </p:sp>
      <p:sp>
        <p:nvSpPr>
          <p:cNvPr id="18" name="Shape 16"/>
          <p:cNvSpPr/>
          <p:nvPr/>
        </p:nvSpPr>
        <p:spPr>
          <a:xfrm>
            <a:off x="640080" y="5378958"/>
            <a:ext cx="10927080" cy="930402"/>
          </a:xfrm>
          <a:prstGeom prst="rect">
            <a:avLst/>
          </a:prstGeom>
          <a:solidFill>
            <a:srgbClr val="F1F5F9"/>
          </a:solidFill>
          <a:ln/>
        </p:spPr>
      </p:sp>
      <p:sp>
        <p:nvSpPr>
          <p:cNvPr id="19" name="Shape 17"/>
          <p:cNvSpPr/>
          <p:nvPr/>
        </p:nvSpPr>
        <p:spPr>
          <a:xfrm>
            <a:off x="640080" y="5378958"/>
            <a:ext cx="82296" cy="930402"/>
          </a:xfrm>
          <a:prstGeom prst="rect">
            <a:avLst/>
          </a:prstGeom>
          <a:solidFill>
            <a:srgbClr val="2E5077"/>
          </a:solidFill>
          <a:ln/>
        </p:spPr>
      </p:sp>
      <p:sp>
        <p:nvSpPr>
          <p:cNvPr id="20" name="Text 18"/>
          <p:cNvSpPr/>
          <p:nvPr/>
        </p:nvSpPr>
        <p:spPr>
          <a:xfrm>
            <a:off x="960120" y="5424678"/>
            <a:ext cx="4206240" cy="838962"/>
          </a:xfrm>
          <a:prstGeom prst="rect">
            <a:avLst/>
          </a:prstGeom>
          <a:noFill/>
          <a:ln/>
        </p:spPr>
        <p:txBody>
          <a:bodyPr wrap="square" lIns="0" tIns="0" rIns="0" bIns="0" rtlCol="0" anchor="ctr"/>
          <a:lstStyle/>
          <a:p>
            <a:pPr indent="0" marL="0">
              <a:buNone/>
            </a:pPr>
            <a:r>
              <a:rPr lang="en-US" sz="1300" b="1" dirty="0">
                <a:solidFill>
                  <a:srgbClr val="2E5077"/>
                </a:solidFill>
                <a:latin typeface="Courier New" pitchFamily="34" charset="0"/>
                <a:ea typeface="Courier New" pitchFamily="34" charset="-122"/>
                <a:cs typeface="Courier New" pitchFamily="34" charset="-120"/>
              </a:rPr>
              <a:t>feature/EUDPA-X-&lt;slug&gt;</a:t>
            </a:r>
            <a:endParaRPr lang="en-US" sz="1300" dirty="0"/>
          </a:p>
        </p:txBody>
      </p:sp>
      <p:sp>
        <p:nvSpPr>
          <p:cNvPr id="21" name="Text 19"/>
          <p:cNvSpPr/>
          <p:nvPr/>
        </p:nvSpPr>
        <p:spPr>
          <a:xfrm>
            <a:off x="5303520" y="5424678"/>
            <a:ext cx="6035040" cy="838962"/>
          </a:xfrm>
          <a:prstGeom prst="rect">
            <a:avLst/>
          </a:prstGeom>
          <a:noFill/>
          <a:ln/>
        </p:spPr>
        <p:txBody>
          <a:bodyPr wrap="square" lIns="0" tIns="0" rIns="0" bIns="0" rtlCol="0" anchor="ctr"/>
          <a:lstStyle/>
          <a:p>
            <a:pPr indent="0" marL="0">
              <a:buNone/>
            </a:pPr>
            <a:r>
              <a:rPr lang="en-US" sz="1250" dirty="0">
                <a:solidFill>
                  <a:srgbClr val="64748B"/>
                </a:solidFill>
                <a:latin typeface="Arial" pitchFamily="34" charset="0"/>
                <a:ea typeface="Arial" pitchFamily="34" charset="-122"/>
                <a:cs typeface="Arial" pitchFamily="34" charset="-120"/>
              </a:rPr>
              <a:t>a branch per repo, with a green CI run</a:t>
            </a:r>
            <a:endParaRPr lang="en-US" sz="1250" dirty="0"/>
          </a:p>
        </p:txBody>
      </p:sp>
      <p:sp>
        <p:nvSpPr>
          <p:cNvPr id="22" name="Text 20"/>
          <p:cNvSpPr/>
          <p:nvPr/>
        </p:nvSpPr>
        <p:spPr>
          <a:xfrm>
            <a:off x="640080" y="6400800"/>
            <a:ext cx="6400800" cy="274320"/>
          </a:xfrm>
          <a:prstGeom prst="rect">
            <a:avLst/>
          </a:prstGeom>
          <a:noFill/>
          <a:ln/>
        </p:spPr>
        <p:txBody>
          <a:bodyPr wrap="square" rtlCol="0" anchor="ctr"/>
          <a:lstStyle/>
          <a:p>
            <a:pPr indent="0" marL="0">
              <a:buNone/>
            </a:pPr>
            <a:r>
              <a:rPr lang="en-US" sz="900" dirty="0">
                <a:solidFill>
                  <a:srgbClr val="94A3B8"/>
                </a:solidFill>
                <a:latin typeface="Arial" pitchFamily="34" charset="0"/>
                <a:ea typeface="Arial" pitchFamily="34" charset="-122"/>
                <a:cs typeface="Arial" pitchFamily="34" charset="-120"/>
              </a:rPr>
              <a:t>trade-imports-animals onboarding</a:t>
            </a:r>
            <a:endParaRPr lang="en-US" sz="900" dirty="0"/>
          </a:p>
        </p:txBody>
      </p:sp>
      <p:sp>
        <p:nvSpPr>
          <p:cNvPr id="23" name="Text 21"/>
          <p:cNvSpPr/>
          <p:nvPr/>
        </p:nvSpPr>
        <p:spPr>
          <a:xfrm>
            <a:off x="11094415" y="6400800"/>
            <a:ext cx="548640" cy="274320"/>
          </a:xfrm>
          <a:prstGeom prst="rect">
            <a:avLst/>
          </a:prstGeom>
          <a:noFill/>
          <a:ln/>
        </p:spPr>
        <p:txBody>
          <a:bodyPr wrap="square" rtlCol="0" anchor="ctr"/>
          <a:lstStyle/>
          <a:p>
            <a:pPr algn="r" indent="0" marL="0">
              <a:buNone/>
            </a:pPr>
            <a:r>
              <a:rPr lang="en-US" sz="900" dirty="0">
                <a:solidFill>
                  <a:srgbClr val="94A3B8"/>
                </a:solidFill>
                <a:latin typeface="Arial" pitchFamily="34" charset="0"/>
                <a:ea typeface="Arial" pitchFamily="34" charset="-122"/>
                <a:cs typeface="Arial"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256032" cy="6858000"/>
          </a:xfrm>
          <a:prstGeom prst="rect">
            <a:avLst/>
          </a:prstGeom>
          <a:solidFill>
            <a:srgbClr val="2E5077"/>
          </a:solidFill>
          <a:ln/>
        </p:spPr>
      </p:sp>
      <p:sp>
        <p:nvSpPr>
          <p:cNvPr id="3" name="Text 1"/>
          <p:cNvSpPr/>
          <p:nvPr/>
        </p:nvSpPr>
        <p:spPr>
          <a:xfrm>
            <a:off x="640080" y="502920"/>
            <a:ext cx="10789920" cy="274320"/>
          </a:xfrm>
          <a:prstGeom prst="rect">
            <a:avLst/>
          </a:prstGeom>
          <a:noFill/>
          <a:ln/>
        </p:spPr>
        <p:txBody>
          <a:bodyPr wrap="square" lIns="0" tIns="0" rIns="0" bIns="0" rtlCol="0" anchor="ctr"/>
          <a:lstStyle/>
          <a:p>
            <a:pPr indent="0" marL="0">
              <a:buNone/>
            </a:pPr>
            <a:r>
              <a:rPr lang="en-US" sz="1200" b="1" spc="200" kern="0" dirty="0">
                <a:solidFill>
                  <a:srgbClr val="2E5077"/>
                </a:solidFill>
                <a:latin typeface="Arial" pitchFamily="34" charset="0"/>
                <a:ea typeface="Arial" pitchFamily="34" charset="-122"/>
                <a:cs typeface="Arial" pitchFamily="34" charset="-120"/>
              </a:rPr>
              <a:t>HOW YOU USE IT</a:t>
            </a:r>
            <a:endParaRPr lang="en-US" sz="1200" dirty="0"/>
          </a:p>
        </p:txBody>
      </p:sp>
      <p:sp>
        <p:nvSpPr>
          <p:cNvPr id="4" name="Text 2"/>
          <p:cNvSpPr/>
          <p:nvPr/>
        </p:nvSpPr>
        <p:spPr>
          <a:xfrm>
            <a:off x="640080" y="777240"/>
            <a:ext cx="10789920" cy="731520"/>
          </a:xfrm>
          <a:prstGeom prst="rect">
            <a:avLst/>
          </a:prstGeom>
          <a:noFill/>
          <a:ln/>
        </p:spPr>
        <p:txBody>
          <a:bodyPr wrap="square" lIns="0" tIns="0" rIns="0" bIns="0" rtlCol="0" anchor="ctr"/>
          <a:lstStyle/>
          <a:p>
            <a:pPr indent="0" marL="0">
              <a:buNone/>
            </a:pPr>
            <a:r>
              <a:rPr lang="en-US" sz="2900" b="1" dirty="0">
                <a:solidFill>
                  <a:srgbClr val="0F172A"/>
                </a:solidFill>
                <a:latin typeface="Arial" pitchFamily="34" charset="0"/>
                <a:ea typeface="Arial" pitchFamily="34" charset="-122"/>
                <a:cs typeface="Arial" pitchFamily="34" charset="-120"/>
              </a:rPr>
              <a:t>ticket in your workflow</a:t>
            </a:r>
            <a:endParaRPr lang="en-US" sz="2900" dirty="0"/>
          </a:p>
        </p:txBody>
      </p:sp>
      <p:sp>
        <p:nvSpPr>
          <p:cNvPr id="5" name="Shape 3"/>
          <p:cNvSpPr/>
          <p:nvPr/>
        </p:nvSpPr>
        <p:spPr>
          <a:xfrm>
            <a:off x="640080" y="1965960"/>
            <a:ext cx="10927080" cy="1222248"/>
          </a:xfrm>
          <a:prstGeom prst="rect">
            <a:avLst/>
          </a:prstGeom>
          <a:solidFill>
            <a:srgbClr val="F1F5F9"/>
          </a:solidFill>
          <a:ln/>
        </p:spPr>
      </p:sp>
      <p:sp>
        <p:nvSpPr>
          <p:cNvPr id="6" name="Shape 4"/>
          <p:cNvSpPr/>
          <p:nvPr/>
        </p:nvSpPr>
        <p:spPr>
          <a:xfrm>
            <a:off x="640080" y="1965960"/>
            <a:ext cx="82296" cy="1222248"/>
          </a:xfrm>
          <a:prstGeom prst="rect">
            <a:avLst/>
          </a:prstGeom>
          <a:solidFill>
            <a:srgbClr val="2E5077"/>
          </a:solidFill>
          <a:ln/>
        </p:spPr>
      </p:sp>
      <p:sp>
        <p:nvSpPr>
          <p:cNvPr id="7" name="Text 5"/>
          <p:cNvSpPr/>
          <p:nvPr/>
        </p:nvSpPr>
        <p:spPr>
          <a:xfrm>
            <a:off x="960120" y="2011680"/>
            <a:ext cx="3108960" cy="1130808"/>
          </a:xfrm>
          <a:prstGeom prst="rect">
            <a:avLst/>
          </a:prstGeom>
          <a:noFill/>
          <a:ln/>
        </p:spPr>
        <p:txBody>
          <a:bodyPr wrap="square" lIns="0" tIns="0" rIns="0" bIns="0" rtlCol="0" anchor="ctr"/>
          <a:lstStyle/>
          <a:p>
            <a:pPr indent="0" marL="0">
              <a:buNone/>
            </a:pPr>
            <a:r>
              <a:rPr lang="en-US" sz="1500" b="1" dirty="0">
                <a:solidFill>
                  <a:srgbClr val="0F172A"/>
                </a:solidFill>
                <a:latin typeface="Arial" pitchFamily="34" charset="0"/>
                <a:ea typeface="Arial" pitchFamily="34" charset="-122"/>
                <a:cs typeface="Arial" pitchFamily="34" charset="-120"/>
              </a:rPr>
              <a:t>Reach for it when</a:t>
            </a:r>
            <a:endParaRPr lang="en-US" sz="1500" dirty="0"/>
          </a:p>
        </p:txBody>
      </p:sp>
      <p:sp>
        <p:nvSpPr>
          <p:cNvPr id="8" name="Text 6"/>
          <p:cNvSpPr/>
          <p:nvPr/>
        </p:nvSpPr>
        <p:spPr>
          <a:xfrm>
            <a:off x="4251960" y="2011680"/>
            <a:ext cx="7040880" cy="1130808"/>
          </a:xfrm>
          <a:prstGeom prst="rect">
            <a:avLst/>
          </a:prstGeom>
          <a:noFill/>
          <a:ln/>
        </p:spPr>
        <p:txBody>
          <a:bodyPr wrap="square" lIns="0" tIns="0" rIns="0" bIns="0" rtlCol="0" anchor="ctr"/>
          <a:lstStyle/>
          <a:p>
            <a:pPr indent="0" marL="0">
              <a:buNone/>
            </a:pPr>
            <a:r>
              <a:rPr lang="en-US" sz="1300" dirty="0">
                <a:solidFill>
                  <a:srgbClr val="64748B"/>
                </a:solidFill>
                <a:latin typeface="Arial" pitchFamily="34" charset="0"/>
                <a:ea typeface="Arial" pitchFamily="34" charset="-122"/>
                <a:cs typeface="Arial" pitchFamily="34" charset="-120"/>
              </a:rPr>
              <a:t>you're picking up a refined EUDPA ticket and about to start the work</a:t>
            </a:r>
            <a:endParaRPr lang="en-US" sz="1300" dirty="0"/>
          </a:p>
        </p:txBody>
      </p:sp>
      <p:sp>
        <p:nvSpPr>
          <p:cNvPr id="9" name="Shape 7"/>
          <p:cNvSpPr/>
          <p:nvPr/>
        </p:nvSpPr>
        <p:spPr>
          <a:xfrm>
            <a:off x="640080" y="3389376"/>
            <a:ext cx="10927080" cy="1222248"/>
          </a:xfrm>
          <a:prstGeom prst="rect">
            <a:avLst/>
          </a:prstGeom>
          <a:solidFill>
            <a:srgbClr val="F1F5F9"/>
          </a:solidFill>
          <a:ln/>
        </p:spPr>
      </p:sp>
      <p:sp>
        <p:nvSpPr>
          <p:cNvPr id="10" name="Shape 8"/>
          <p:cNvSpPr/>
          <p:nvPr/>
        </p:nvSpPr>
        <p:spPr>
          <a:xfrm>
            <a:off x="640080" y="3389376"/>
            <a:ext cx="82296" cy="1222248"/>
          </a:xfrm>
          <a:prstGeom prst="rect">
            <a:avLst/>
          </a:prstGeom>
          <a:solidFill>
            <a:srgbClr val="2E5077"/>
          </a:solidFill>
          <a:ln/>
        </p:spPr>
      </p:sp>
      <p:sp>
        <p:nvSpPr>
          <p:cNvPr id="11" name="Text 9"/>
          <p:cNvSpPr/>
          <p:nvPr/>
        </p:nvSpPr>
        <p:spPr>
          <a:xfrm>
            <a:off x="960120" y="3435096"/>
            <a:ext cx="3108960" cy="1130808"/>
          </a:xfrm>
          <a:prstGeom prst="rect">
            <a:avLst/>
          </a:prstGeom>
          <a:noFill/>
          <a:ln/>
        </p:spPr>
        <p:txBody>
          <a:bodyPr wrap="square" lIns="0" tIns="0" rIns="0" bIns="0" rtlCol="0" anchor="ctr"/>
          <a:lstStyle/>
          <a:p>
            <a:pPr indent="0" marL="0">
              <a:buNone/>
            </a:pPr>
            <a:r>
              <a:rPr lang="en-US" sz="1500" b="1" dirty="0">
                <a:solidFill>
                  <a:srgbClr val="0F172A"/>
                </a:solidFill>
                <a:latin typeface="Arial" pitchFamily="34" charset="0"/>
                <a:ea typeface="Arial" pitchFamily="34" charset="-122"/>
                <a:cs typeface="Arial" pitchFamily="34" charset="-120"/>
              </a:rPr>
              <a:t>Where you decide</a:t>
            </a:r>
            <a:endParaRPr lang="en-US" sz="1500" dirty="0"/>
          </a:p>
        </p:txBody>
      </p:sp>
      <p:sp>
        <p:nvSpPr>
          <p:cNvPr id="12" name="Text 10"/>
          <p:cNvSpPr/>
          <p:nvPr/>
        </p:nvSpPr>
        <p:spPr>
          <a:xfrm>
            <a:off x="4251960" y="3435096"/>
            <a:ext cx="7040880" cy="1130808"/>
          </a:xfrm>
          <a:prstGeom prst="rect">
            <a:avLst/>
          </a:prstGeom>
          <a:noFill/>
          <a:ln/>
        </p:spPr>
        <p:txBody>
          <a:bodyPr wrap="square" lIns="0" tIns="0" rIns="0" bIns="0" rtlCol="0" anchor="ctr"/>
          <a:lstStyle/>
          <a:p>
            <a:pPr indent="0" marL="0">
              <a:buNone/>
            </a:pPr>
            <a:r>
              <a:rPr lang="en-US" sz="1300" dirty="0">
                <a:solidFill>
                  <a:srgbClr val="64748B"/>
                </a:solidFill>
                <a:latin typeface="Arial" pitchFamily="34" charset="0"/>
                <a:ea typeface="Arial" pitchFamily="34" charset="-122"/>
                <a:cs typeface="Arial" pitchFamily="34" charset="-120"/>
              </a:rPr>
              <a:t>you resolve the plan's open questions, and review the diff and PR — it never merges for you</a:t>
            </a:r>
            <a:endParaRPr lang="en-US" sz="1300" dirty="0"/>
          </a:p>
        </p:txBody>
      </p:sp>
      <p:sp>
        <p:nvSpPr>
          <p:cNvPr id="13" name="Shape 11"/>
          <p:cNvSpPr/>
          <p:nvPr/>
        </p:nvSpPr>
        <p:spPr>
          <a:xfrm>
            <a:off x="640080" y="4812792"/>
            <a:ext cx="10927080" cy="1222248"/>
          </a:xfrm>
          <a:prstGeom prst="rect">
            <a:avLst/>
          </a:prstGeom>
          <a:solidFill>
            <a:srgbClr val="F1F5F9"/>
          </a:solidFill>
          <a:ln/>
        </p:spPr>
      </p:sp>
      <p:sp>
        <p:nvSpPr>
          <p:cNvPr id="14" name="Shape 12"/>
          <p:cNvSpPr/>
          <p:nvPr/>
        </p:nvSpPr>
        <p:spPr>
          <a:xfrm>
            <a:off x="640080" y="4812792"/>
            <a:ext cx="82296" cy="1222248"/>
          </a:xfrm>
          <a:prstGeom prst="rect">
            <a:avLst/>
          </a:prstGeom>
          <a:solidFill>
            <a:srgbClr val="2E5077"/>
          </a:solidFill>
          <a:ln/>
        </p:spPr>
      </p:sp>
      <p:sp>
        <p:nvSpPr>
          <p:cNvPr id="15" name="Text 13"/>
          <p:cNvSpPr/>
          <p:nvPr/>
        </p:nvSpPr>
        <p:spPr>
          <a:xfrm>
            <a:off x="960120" y="4858512"/>
            <a:ext cx="3108960" cy="1130808"/>
          </a:xfrm>
          <a:prstGeom prst="rect">
            <a:avLst/>
          </a:prstGeom>
          <a:noFill/>
          <a:ln/>
        </p:spPr>
        <p:txBody>
          <a:bodyPr wrap="square" lIns="0" tIns="0" rIns="0" bIns="0" rtlCol="0" anchor="ctr"/>
          <a:lstStyle/>
          <a:p>
            <a:pPr indent="0" marL="0">
              <a:buNone/>
            </a:pPr>
            <a:r>
              <a:rPr lang="en-US" sz="1500" b="1" dirty="0">
                <a:solidFill>
                  <a:srgbClr val="0F172A"/>
                </a:solidFill>
                <a:latin typeface="Arial" pitchFamily="34" charset="0"/>
                <a:ea typeface="Arial" pitchFamily="34" charset="-122"/>
                <a:cs typeface="Arial" pitchFamily="34" charset="-120"/>
              </a:rPr>
              <a:t>How it fits</a:t>
            </a:r>
            <a:endParaRPr lang="en-US" sz="1500" dirty="0"/>
          </a:p>
        </p:txBody>
      </p:sp>
      <p:sp>
        <p:nvSpPr>
          <p:cNvPr id="16" name="Text 14"/>
          <p:cNvSpPr/>
          <p:nvPr/>
        </p:nvSpPr>
        <p:spPr>
          <a:xfrm>
            <a:off x="4251960" y="4858512"/>
            <a:ext cx="7040880" cy="1130808"/>
          </a:xfrm>
          <a:prstGeom prst="rect">
            <a:avLst/>
          </a:prstGeom>
          <a:noFill/>
          <a:ln/>
        </p:spPr>
        <p:txBody>
          <a:bodyPr wrap="square" lIns="0" tIns="0" rIns="0" bIns="0" rtlCol="0" anchor="ctr"/>
          <a:lstStyle/>
          <a:p>
            <a:pPr indent="0" marL="0">
              <a:buNone/>
            </a:pPr>
            <a:r>
              <a:rPr lang="en-US" sz="1300" dirty="0">
                <a:solidFill>
                  <a:srgbClr val="64748B"/>
                </a:solidFill>
                <a:latin typeface="Arial" pitchFamily="34" charset="0"/>
                <a:ea typeface="Arial" pitchFamily="34" charset="-122"/>
                <a:cs typeface="Arial" pitchFamily="34" charset="-120"/>
              </a:rPr>
              <a:t>it hands off to review and code-style once the PR is up</a:t>
            </a:r>
            <a:endParaRPr lang="en-US" sz="1300" dirty="0"/>
          </a:p>
        </p:txBody>
      </p:sp>
      <p:sp>
        <p:nvSpPr>
          <p:cNvPr id="17" name="Text 15"/>
          <p:cNvSpPr/>
          <p:nvPr/>
        </p:nvSpPr>
        <p:spPr>
          <a:xfrm>
            <a:off x="640080" y="6400800"/>
            <a:ext cx="6400800" cy="274320"/>
          </a:xfrm>
          <a:prstGeom prst="rect">
            <a:avLst/>
          </a:prstGeom>
          <a:noFill/>
          <a:ln/>
        </p:spPr>
        <p:txBody>
          <a:bodyPr wrap="square" rtlCol="0" anchor="ctr"/>
          <a:lstStyle/>
          <a:p>
            <a:pPr indent="0" marL="0">
              <a:buNone/>
            </a:pPr>
            <a:r>
              <a:rPr lang="en-US" sz="900" dirty="0">
                <a:solidFill>
                  <a:srgbClr val="94A3B8"/>
                </a:solidFill>
                <a:latin typeface="Arial" pitchFamily="34" charset="0"/>
                <a:ea typeface="Arial" pitchFamily="34" charset="-122"/>
                <a:cs typeface="Arial" pitchFamily="34" charset="-120"/>
              </a:rPr>
              <a:t>trade-imports-animals onboarding</a:t>
            </a:r>
            <a:endParaRPr lang="en-US" sz="900" dirty="0"/>
          </a:p>
        </p:txBody>
      </p:sp>
      <p:sp>
        <p:nvSpPr>
          <p:cNvPr id="18" name="Text 16"/>
          <p:cNvSpPr/>
          <p:nvPr/>
        </p:nvSpPr>
        <p:spPr>
          <a:xfrm>
            <a:off x="11094415" y="6400800"/>
            <a:ext cx="548640" cy="274320"/>
          </a:xfrm>
          <a:prstGeom prst="rect">
            <a:avLst/>
          </a:prstGeom>
          <a:noFill/>
          <a:ln/>
        </p:spPr>
        <p:txBody>
          <a:bodyPr wrap="square" rtlCol="0" anchor="ctr"/>
          <a:lstStyle/>
          <a:p>
            <a:pPr algn="r" indent="0" marL="0">
              <a:buNone/>
            </a:pPr>
            <a:r>
              <a:rPr lang="en-US" sz="900" dirty="0">
                <a:solidFill>
                  <a:srgbClr val="94A3B8"/>
                </a:solidFill>
                <a:latin typeface="Arial" pitchFamily="34" charset="0"/>
                <a:ea typeface="Arial" pitchFamily="34" charset="-122"/>
                <a:cs typeface="Arial"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256032" cy="6858000"/>
          </a:xfrm>
          <a:prstGeom prst="rect">
            <a:avLst/>
          </a:prstGeom>
          <a:solidFill>
            <a:srgbClr val="2E5077"/>
          </a:solidFill>
          <a:ln/>
        </p:spPr>
      </p:sp>
      <p:sp>
        <p:nvSpPr>
          <p:cNvPr id="3" name="Text 1"/>
          <p:cNvSpPr/>
          <p:nvPr/>
        </p:nvSpPr>
        <p:spPr>
          <a:xfrm>
            <a:off x="640080" y="502920"/>
            <a:ext cx="10789920" cy="274320"/>
          </a:xfrm>
          <a:prstGeom prst="rect">
            <a:avLst/>
          </a:prstGeom>
          <a:noFill/>
          <a:ln/>
        </p:spPr>
        <p:txBody>
          <a:bodyPr wrap="square" lIns="0" tIns="0" rIns="0" bIns="0" rtlCol="0" anchor="ctr"/>
          <a:lstStyle/>
          <a:p>
            <a:pPr indent="0" marL="0">
              <a:buNone/>
            </a:pPr>
            <a:r>
              <a:rPr lang="en-US" sz="1200" b="1" spc="200" kern="0" dirty="0">
                <a:solidFill>
                  <a:srgbClr val="2E5077"/>
                </a:solidFill>
                <a:latin typeface="Arial" pitchFamily="34" charset="0"/>
                <a:ea typeface="Arial" pitchFamily="34" charset="-122"/>
                <a:cs typeface="Arial" pitchFamily="34" charset="-120"/>
              </a:rPr>
              <a:t>TRY IT</a:t>
            </a:r>
            <a:endParaRPr lang="en-US" sz="1200" dirty="0"/>
          </a:p>
        </p:txBody>
      </p:sp>
      <p:sp>
        <p:nvSpPr>
          <p:cNvPr id="4" name="Text 2"/>
          <p:cNvSpPr/>
          <p:nvPr/>
        </p:nvSpPr>
        <p:spPr>
          <a:xfrm>
            <a:off x="640080" y="777240"/>
            <a:ext cx="10789920" cy="731520"/>
          </a:xfrm>
          <a:prstGeom prst="rect">
            <a:avLst/>
          </a:prstGeom>
          <a:noFill/>
          <a:ln/>
        </p:spPr>
        <p:txBody>
          <a:bodyPr wrap="square" lIns="0" tIns="0" rIns="0" bIns="0" rtlCol="0" anchor="ctr"/>
          <a:lstStyle/>
          <a:p>
            <a:pPr indent="0" marL="0">
              <a:buNone/>
            </a:pPr>
            <a:r>
              <a:rPr lang="en-US" sz="2900" b="1" dirty="0">
                <a:solidFill>
                  <a:srgbClr val="0F172A"/>
                </a:solidFill>
                <a:latin typeface="Arial" pitchFamily="34" charset="0"/>
                <a:ea typeface="Arial" pitchFamily="34" charset="-122"/>
                <a:cs typeface="Arial" pitchFamily="34" charset="-120"/>
              </a:rPr>
              <a:t>Have a go yourself</a:t>
            </a:r>
            <a:endParaRPr lang="en-US" sz="2900" dirty="0"/>
          </a:p>
        </p:txBody>
      </p:sp>
      <p:sp>
        <p:nvSpPr>
          <p:cNvPr id="5" name="Shape 3"/>
          <p:cNvSpPr/>
          <p:nvPr/>
        </p:nvSpPr>
        <p:spPr>
          <a:xfrm>
            <a:off x="640080" y="2011680"/>
            <a:ext cx="10927080" cy="2194560"/>
          </a:xfrm>
          <a:prstGeom prst="rect">
            <a:avLst/>
          </a:prstGeom>
          <a:solidFill>
            <a:srgbClr val="EAEFF5"/>
          </a:solidFill>
          <a:ln/>
        </p:spPr>
      </p:sp>
      <p:sp>
        <p:nvSpPr>
          <p:cNvPr id="6" name="Shape 4"/>
          <p:cNvSpPr/>
          <p:nvPr/>
        </p:nvSpPr>
        <p:spPr>
          <a:xfrm>
            <a:off x="640080" y="2011680"/>
            <a:ext cx="109728" cy="2194560"/>
          </a:xfrm>
          <a:prstGeom prst="rect">
            <a:avLst/>
          </a:prstGeom>
          <a:solidFill>
            <a:srgbClr val="2E5077"/>
          </a:solidFill>
          <a:ln/>
        </p:spPr>
      </p:sp>
      <p:sp>
        <p:nvSpPr>
          <p:cNvPr id="7" name="Text 5"/>
          <p:cNvSpPr/>
          <p:nvPr/>
        </p:nvSpPr>
        <p:spPr>
          <a:xfrm>
            <a:off x="1097280" y="2286000"/>
            <a:ext cx="10058400" cy="1645920"/>
          </a:xfrm>
          <a:prstGeom prst="rect">
            <a:avLst/>
          </a:prstGeom>
          <a:noFill/>
          <a:ln/>
        </p:spPr>
        <p:txBody>
          <a:bodyPr wrap="square" lIns="0" tIns="0" rIns="0" bIns="0" rtlCol="0" anchor="t"/>
          <a:lstStyle/>
          <a:p>
            <a:pPr indent="0" marL="0">
              <a:buNone/>
            </a:pPr>
            <a:r>
              <a:rPr lang="en-US" sz="1700" dirty="0">
                <a:solidFill>
                  <a:srgbClr val="0F172A"/>
                </a:solidFill>
                <a:latin typeface="Arial" pitchFamily="34" charset="0"/>
                <a:ea typeface="Arial" pitchFamily="34" charset="-122"/>
                <a:cs typeface="Arial" pitchFamily="34" charset="-120"/>
              </a:rPr>
              <a:t>Pick a real ticket you know and run just the plan phase: "plan EUDPA-XXXX". No code is written, so it is a safe first run. Open plan.md and read the steps, the risks table and the [NEEDS VERIFICATION] markers.</a:t>
            </a:r>
            <a:endParaRPr lang="en-US" sz="1700" dirty="0"/>
          </a:p>
        </p:txBody>
      </p:sp>
      <p:sp>
        <p:nvSpPr>
          <p:cNvPr id="8" name="Text 6"/>
          <p:cNvSpPr/>
          <p:nvPr/>
        </p:nvSpPr>
        <p:spPr>
          <a:xfrm>
            <a:off x="640080" y="6217920"/>
            <a:ext cx="10515600" cy="365760"/>
          </a:xfrm>
          <a:prstGeom prst="rect">
            <a:avLst/>
          </a:prstGeom>
          <a:noFill/>
          <a:ln/>
        </p:spPr>
        <p:txBody>
          <a:bodyPr wrap="square" lIns="0" tIns="0" rIns="0" bIns="0" rtlCol="0" anchor="ctr"/>
          <a:lstStyle/>
          <a:p>
            <a:pPr indent="0" marL="0">
              <a:buNone/>
            </a:pPr>
            <a:r>
              <a:rPr lang="en-US" sz="1400" b="1" dirty="0">
                <a:solidFill>
                  <a:srgbClr val="22405F"/>
                </a:solidFill>
                <a:latin typeface="Arial" pitchFamily="34" charset="0"/>
                <a:ea typeface="Arial" pitchFamily="34" charset="-122"/>
                <a:cs typeface="Arial" pitchFamily="34" charset="-120"/>
              </a:rPr>
              <a:t>Next: Session 3 — the review skill</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Session 2 — ticket</dc:title>
  <dc:subject>PptxGenJS Presentation</dc:subject>
  <dc:creator>PptxGenJS</dc:creator>
  <cp:lastModifiedBy>PptxGenJS</cp:lastModifiedBy>
  <cp:revision>1</cp:revision>
  <dcterms:created xsi:type="dcterms:W3CDTF">2026-06-29T08:17:57Z</dcterms:created>
  <dcterms:modified xsi:type="dcterms:W3CDTF">2026-06-29T08:17:57Z</dcterms:modified>
</cp:coreProperties>
</file>